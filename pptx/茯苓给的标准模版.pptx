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media/image14.webp" ContentType="image/webp"/>
  <Override PartName="/ppt/media/image15.webp" ContentType="image/webp"/>
  <Override PartName="/ppt/media/image18.webp" ContentType="image/webp"/>
  <Override PartName="/ppt/media/image20.webp" ContentType="image/webp"/>
  <Override PartName="/ppt/media/image21.webp" ContentType="image/webp"/>
  <Override PartName="/ppt/media/image22.webp" ContentType="image/webp"/>
  <Override PartName="/ppt/media/image24.webp" ContentType="image/webp"/>
  <Override PartName="/ppt/media/image26.webp" ContentType="image/webp"/>
  <Override PartName="/ppt/media/image27.webp" ContentType="image/webp"/>
  <Override PartName="/ppt/media/image28.webp" ContentType="image/webp"/>
  <Override PartName="/ppt/media/image29.webp" ContentType="image/webp"/>
  <Override PartName="/ppt/media/image31.webp" ContentType="image/webp"/>
  <Override PartName="/ppt/media/image32.webp" ContentType="image/webp"/>
  <Override PartName="/ppt/media/image33.webp" ContentType="image/webp"/>
  <Override PartName="/ppt/media/image34.webp" ContentType="image/webp"/>
  <Override PartName="/ppt/media/image35.webp" ContentType="image/webp"/>
  <Override PartName="/ppt/media/image36.webp" ContentType="image/webp"/>
  <Override PartName="/ppt/media/image37.webp" ContentType="image/webp"/>
  <Override PartName="/ppt/media/image38.webp" ContentType="image/webp"/>
  <Override PartName="/ppt/media/image39.webp" ContentType="image/webp"/>
  <Override PartName="/ppt/media/image4.webp" ContentType="image/webp"/>
  <Override PartName="/ppt/media/image41.webp" ContentType="image/webp"/>
  <Override PartName="/ppt/media/image42.webp" ContentType="image/webp"/>
  <Override PartName="/ppt/media/image43.webp" ContentType="image/webp"/>
  <Override PartName="/ppt/media/image46.webp" ContentType="image/webp"/>
  <Override PartName="/ppt/media/image47.webp" ContentType="image/webp"/>
  <Override PartName="/ppt/media/image48.webp" ContentType="image/webp"/>
  <Override PartName="/ppt/media/image49.webp" ContentType="image/webp"/>
  <Override PartName="/ppt/media/image59.webp" ContentType="image/webp"/>
  <Override PartName="/ppt/media/image60.webp" ContentType="image/webp"/>
  <Override PartName="/ppt/media/image6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2"/>
  </p:notesMasterIdLst>
  <p:sldIdLst>
    <p:sldId id="413" r:id="rId4"/>
    <p:sldId id="414" r:id="rId5"/>
    <p:sldId id="422" r:id="rId6"/>
    <p:sldId id="416" r:id="rId7"/>
    <p:sldId id="417" r:id="rId8"/>
    <p:sldId id="418" r:id="rId9"/>
    <p:sldId id="419" r:id="rId10"/>
    <p:sldId id="420" r:id="rId11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1pPr>
    <a:lvl2pPr marL="0" marR="0" indent="2286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2pPr>
    <a:lvl3pPr marL="0" marR="0" indent="4572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3pPr>
    <a:lvl4pPr marL="0" marR="0" indent="6858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4pPr>
    <a:lvl5pPr marL="0" marR="0" indent="9144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5pPr>
    <a:lvl6pPr marL="0" marR="0" indent="11430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6pPr>
    <a:lvl7pPr marL="0" marR="0" indent="13716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7pPr>
    <a:lvl8pPr marL="0" marR="0" indent="16002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8pPr>
    <a:lvl9pPr marL="0" marR="0" indent="1828800" algn="l" defTabSz="41275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11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raphik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E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5238" autoAdjust="0"/>
  </p:normalViewPr>
  <p:slideViewPr>
    <p:cSldViewPr snapToGrid="0">
      <p:cViewPr varScale="1">
        <p:scale>
          <a:sx n="86" d="100"/>
          <a:sy n="86" d="100"/>
        </p:scale>
        <p:origin x="28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07" name="Shape 3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1143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2286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3429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4572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5715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6858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8001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914400" defTabSz="228600" latinLnBrk="0">
      <a:lnSpc>
        <a:spcPct val="118000"/>
      </a:lnSpc>
      <a:defRPr sz="11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11613810" y="353505"/>
            <a:ext cx="428899" cy="24987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  <p:sp>
        <p:nvSpPr>
          <p:cNvPr id="56" name="Slide Title…"/>
          <p:cNvSpPr txBox="1">
            <a:spLocks noGrp="1"/>
          </p:cNvSpPr>
          <p:nvPr>
            <p:ph type="title" hasCustomPrompt="1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/>
          <a:lstStyle/>
          <a:p>
            <a:r>
              <a:t>Slide Title…</a:t>
            </a:r>
          </a:p>
        </p:txBody>
      </p:sp>
      <p:sp>
        <p:nvSpPr>
          <p:cNvPr id="57" name="Texte niveau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903400" y="1903582"/>
            <a:ext cx="8383836" cy="305083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0000"/>
              </a:buClr>
              <a:buSzTx/>
              <a:buNone/>
            </a:lvl1pPr>
            <a:lvl2pPr marL="0" indent="228600">
              <a:buClr>
                <a:srgbClr val="000000"/>
              </a:buClr>
              <a:buSzTx/>
              <a:buNone/>
            </a:lvl2pPr>
            <a:lvl3pPr marL="0" indent="457200">
              <a:buClr>
                <a:srgbClr val="000000"/>
              </a:buClr>
              <a:buSzTx/>
              <a:buNone/>
            </a:lvl3pPr>
            <a:lvl4pPr marL="0" indent="685800">
              <a:buClr>
                <a:srgbClr val="000000"/>
              </a:buClr>
              <a:buSzTx/>
              <a:buNone/>
            </a:lvl4pPr>
            <a:lvl5pPr marL="0" indent="914400">
              <a:buClr>
                <a:srgbClr val="000000"/>
              </a:buClr>
              <a:buSzTx/>
              <a:buNone/>
            </a:lvl5pPr>
          </a:lstStyle>
          <a:p>
            <a:r>
              <a:t>Write your text here…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1153192" y="354101"/>
            <a:ext cx="516294" cy="305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raphik"/>
              </a:rPr>
              <a:t>Page</a:t>
            </a:r>
            <a:endParaRPr kumimoji="0" lang="zh-CN" altLang="en-US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raphik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0BA79-45D6-4B6C-8BDF-AF2007CCA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688" y="0"/>
            <a:ext cx="1670659" cy="950933"/>
          </a:xfrm>
          <a:prstGeom prst="rect">
            <a:avLst/>
          </a:prstGeom>
        </p:spPr>
      </p:pic>
      <p:sp>
        <p:nvSpPr>
          <p:cNvPr id="3" name="Carré"/>
          <p:cNvSpPr/>
          <p:nvPr/>
        </p:nvSpPr>
        <p:spPr>
          <a:xfrm>
            <a:off x="-508000" y="379433"/>
            <a:ext cx="381000" cy="381001"/>
          </a:xfrm>
          <a:prstGeom prst="rect">
            <a:avLst/>
          </a:prstGeom>
          <a:ln w="6350">
            <a:solidFill>
              <a:srgbClr val="00F9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/>
          </a:p>
        </p:txBody>
      </p:sp>
      <p:sp>
        <p:nvSpPr>
          <p:cNvPr id="4" name="Carré"/>
          <p:cNvSpPr/>
          <p:nvPr/>
        </p:nvSpPr>
        <p:spPr>
          <a:xfrm>
            <a:off x="-508000" y="760433"/>
            <a:ext cx="381000" cy="381001"/>
          </a:xfrm>
          <a:prstGeom prst="rect">
            <a:avLst/>
          </a:prstGeom>
          <a:ln w="6350">
            <a:solidFill>
              <a:srgbClr val="00F9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/>
          </a:p>
        </p:txBody>
      </p:sp>
      <p:sp>
        <p:nvSpPr>
          <p:cNvPr id="5" name="Carré"/>
          <p:cNvSpPr/>
          <p:nvPr/>
        </p:nvSpPr>
        <p:spPr>
          <a:xfrm>
            <a:off x="-508000" y="1141433"/>
            <a:ext cx="381000" cy="381001"/>
          </a:xfrm>
          <a:prstGeom prst="rect">
            <a:avLst/>
          </a:prstGeom>
          <a:ln w="6350">
            <a:solidFill>
              <a:srgbClr val="00F9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/>
          </a:p>
        </p:txBody>
      </p:sp>
      <p:sp>
        <p:nvSpPr>
          <p:cNvPr id="6" name="Carré"/>
          <p:cNvSpPr/>
          <p:nvPr/>
        </p:nvSpPr>
        <p:spPr>
          <a:xfrm>
            <a:off x="-508000" y="1522433"/>
            <a:ext cx="381000" cy="381001"/>
          </a:xfrm>
          <a:prstGeom prst="rect">
            <a:avLst/>
          </a:prstGeom>
          <a:ln w="6350">
            <a:solidFill>
              <a:srgbClr val="00F9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/>
          </a:p>
        </p:txBody>
      </p:sp>
      <p:sp>
        <p:nvSpPr>
          <p:cNvPr id="7" name="Carré"/>
          <p:cNvSpPr/>
          <p:nvPr/>
        </p:nvSpPr>
        <p:spPr>
          <a:xfrm>
            <a:off x="-508000" y="1903433"/>
            <a:ext cx="381000" cy="381001"/>
          </a:xfrm>
          <a:prstGeom prst="rect">
            <a:avLst/>
          </a:prstGeom>
          <a:ln w="6350">
            <a:solidFill>
              <a:srgbClr val="00F900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 sz="1600"/>
          </a:p>
        </p:txBody>
      </p:sp>
      <p:sp>
        <p:nvSpPr>
          <p:cNvPr id="10" name="Slide Title…"/>
          <p:cNvSpPr txBox="1">
            <a:spLocks noGrp="1"/>
          </p:cNvSpPr>
          <p:nvPr>
            <p:ph type="title" hasCustomPrompt="1"/>
          </p:nvPr>
        </p:nvSpPr>
        <p:spPr>
          <a:xfrm>
            <a:off x="345029" y="1079501"/>
            <a:ext cx="11469828" cy="63641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Title…</a:t>
            </a:r>
          </a:p>
        </p:txBody>
      </p:sp>
      <p:sp>
        <p:nvSpPr>
          <p:cNvPr id="11" name="Texte niveau 1…"/>
          <p:cNvSpPr txBox="1">
            <a:spLocks noGrp="1"/>
          </p:cNvSpPr>
          <p:nvPr>
            <p:ph type="body" idx="1"/>
          </p:nvPr>
        </p:nvSpPr>
        <p:spPr>
          <a:xfrm>
            <a:off x="760555" y="950933"/>
            <a:ext cx="10670890" cy="49531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" name="Numéro de diapositive"/>
          <p:cNvSpPr txBox="1">
            <a:spLocks noGrp="1"/>
          </p:cNvSpPr>
          <p:nvPr>
            <p:ph type="sldNum" sz="quarter" idx="4"/>
          </p:nvPr>
        </p:nvSpPr>
        <p:spPr>
          <a:xfrm>
            <a:off x="11613810" y="353505"/>
            <a:ext cx="428899" cy="24987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1153192" y="354101"/>
            <a:ext cx="516294" cy="305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raphik"/>
              </a:rPr>
              <a:t>Page</a:t>
            </a:r>
            <a:endParaRPr kumimoji="0" lang="zh-CN" altLang="en-US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raphi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hd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1pPr>
      <a:lvl2pPr marL="0" marR="0" indent="2286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2pPr>
      <a:lvl3pPr marL="0" marR="0" indent="4572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3pPr>
      <a:lvl4pPr marL="0" marR="0" indent="6858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4pPr>
      <a:lvl5pPr marL="0" marR="0" indent="9144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5pPr>
      <a:lvl6pPr marL="0" marR="0" indent="11430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6pPr>
      <a:lvl7pPr marL="0" marR="0" indent="13716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7pPr>
      <a:lvl8pPr marL="0" marR="0" indent="16002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8pPr>
      <a:lvl9pPr marL="0" marR="0" indent="182880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FarnhamDisplay Regular"/>
        </a:defRPr>
      </a:lvl9pPr>
    </p:titleStyle>
    <p:bodyStyle>
      <a:lvl1pPr marL="1454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1pPr>
      <a:lvl2pPr marL="4629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2pPr>
      <a:lvl3pPr marL="7804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3pPr>
      <a:lvl4pPr marL="10979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4pPr>
      <a:lvl5pPr marL="14154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5pPr>
      <a:lvl6pPr marL="17329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6pPr>
      <a:lvl7pPr marL="20504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7pPr>
      <a:lvl8pPr marL="23679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8pPr>
      <a:lvl9pPr marL="2685415" marR="0" indent="-145415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defRPr sz="1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arnhamDisplay Regula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13979" y="1546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Page </a:t>
            </a:r>
            <a:fld id="{2C80BA79-45D6-4B6C-8BDF-AF2007CCA53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webp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jpeg"/><Relationship Id="rId7" Type="http://schemas.openxmlformats.org/officeDocument/2006/relationships/image" Target="../media/image4.webp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.webp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ebp"/><Relationship Id="rId8" Type="http://schemas.openxmlformats.org/officeDocument/2006/relationships/image" Target="../media/image19.jpeg"/><Relationship Id="rId7" Type="http://schemas.openxmlformats.org/officeDocument/2006/relationships/image" Target="../media/image18.webp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webp"/><Relationship Id="rId3" Type="http://schemas.openxmlformats.org/officeDocument/2006/relationships/image" Target="../media/image14.webp"/><Relationship Id="rId2" Type="http://schemas.openxmlformats.org/officeDocument/2006/relationships/image" Target="../media/image13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1.webp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xiaohongshu.com/explore/68e8c5d20000000007016dcf?xsec_token=ABS6bAMO7BkLvPkYx5ftxpg7SSA9bUsSAv7Ri28xNeU6g=&amp;xsec_source=pc_user" TargetMode="External"/><Relationship Id="rId8" Type="http://schemas.openxmlformats.org/officeDocument/2006/relationships/hyperlink" Target="https://www.xiaohongshu.com/explore/68e7438d0000000004003029?xsec_token=ABRjOcMKjloirzdumZZYtL64lK_MYawHRjMhClnUvR9XI=&amp;xsec_source=pc_user" TargetMode="External"/><Relationship Id="rId7" Type="http://schemas.openxmlformats.org/officeDocument/2006/relationships/hyperlink" Target="https://www.xiaohongshu.com/explore/68ee4c2a000000000402a15e?xsec_token=ABNb9elIogH8GSwzo1Be0TTBf4nAYK4PYsSIhKualmAkM=&amp;xsec_source=pc_user" TargetMode="External"/><Relationship Id="rId6" Type="http://schemas.openxmlformats.org/officeDocument/2006/relationships/hyperlink" Target="https://www.xiaohongshu.com/explore/68e375900000000003021047?xsec_token=ABNldut-3JBgDWVu7Px_xQmbmuuxJYp5LhzP8CJKO5_Bw=&amp;xsec_source=pc_user" TargetMode="External"/><Relationship Id="rId5" Type="http://schemas.openxmlformats.org/officeDocument/2006/relationships/hyperlink" Target="https://www.xiaohongshu.com/explore/68df7fc70000000007008dbb?xsec_token=ABHy5af12CnoUEHdZwJYSVDgbTzYc3gi_Q1JH11vmO8w4=&amp;xsec_source=pc_user" TargetMode="External"/><Relationship Id="rId41" Type="http://schemas.openxmlformats.org/officeDocument/2006/relationships/slideLayout" Target="../slideLayouts/slideLayout1.xml"/><Relationship Id="rId40" Type="http://schemas.openxmlformats.org/officeDocument/2006/relationships/image" Target="../media/image41.webp"/><Relationship Id="rId4" Type="http://schemas.openxmlformats.org/officeDocument/2006/relationships/hyperlink" Target="https://www.xiaohongshu.com/explore/68e87b960000000004022da8?xsec_token=ABS6bAMO7BkLvPkYx5ftxpg-C9SJaQG5WNN6NJwrM6w8c=&amp;xsec_source=pc_user" TargetMode="External"/><Relationship Id="rId39" Type="http://schemas.openxmlformats.org/officeDocument/2006/relationships/image" Target="../media/image40.jpeg"/><Relationship Id="rId38" Type="http://schemas.openxmlformats.org/officeDocument/2006/relationships/image" Target="../media/image39.webp"/><Relationship Id="rId37" Type="http://schemas.openxmlformats.org/officeDocument/2006/relationships/image" Target="../media/image38.webp"/><Relationship Id="rId36" Type="http://schemas.openxmlformats.org/officeDocument/2006/relationships/image" Target="../media/image37.webp"/><Relationship Id="rId35" Type="http://schemas.openxmlformats.org/officeDocument/2006/relationships/image" Target="../media/image36.webp"/><Relationship Id="rId34" Type="http://schemas.openxmlformats.org/officeDocument/2006/relationships/image" Target="../media/image35.webp"/><Relationship Id="rId33" Type="http://schemas.openxmlformats.org/officeDocument/2006/relationships/image" Target="../media/image34.webp"/><Relationship Id="rId32" Type="http://schemas.openxmlformats.org/officeDocument/2006/relationships/image" Target="../media/image33.webp"/><Relationship Id="rId31" Type="http://schemas.openxmlformats.org/officeDocument/2006/relationships/image" Target="../media/image32.webp"/><Relationship Id="rId30" Type="http://schemas.openxmlformats.org/officeDocument/2006/relationships/image" Target="../media/image31.webp"/><Relationship Id="rId3" Type="http://schemas.openxmlformats.org/officeDocument/2006/relationships/hyperlink" Target="https://www.xiaohongshu.com/explore/68f1c8750000000007022d1d?xsec_token=ABP8DBONv4E2V8Va77OIwBOhjreRPR3a-r__uYYpcRA_4=&amp;xsec_source=pc_user" TargetMode="External"/><Relationship Id="rId29" Type="http://schemas.openxmlformats.org/officeDocument/2006/relationships/image" Target="../media/image30.jpeg"/><Relationship Id="rId28" Type="http://schemas.openxmlformats.org/officeDocument/2006/relationships/image" Target="../media/image29.webp"/><Relationship Id="rId27" Type="http://schemas.openxmlformats.org/officeDocument/2006/relationships/image" Target="../media/image28.webp"/><Relationship Id="rId26" Type="http://schemas.openxmlformats.org/officeDocument/2006/relationships/image" Target="../media/image27.webp"/><Relationship Id="rId25" Type="http://schemas.openxmlformats.org/officeDocument/2006/relationships/image" Target="../media/image26.webp"/><Relationship Id="rId24" Type="http://schemas.openxmlformats.org/officeDocument/2006/relationships/image" Target="../media/image25.jpeg"/><Relationship Id="rId23" Type="http://schemas.openxmlformats.org/officeDocument/2006/relationships/image" Target="../media/image24.webp"/><Relationship Id="rId22" Type="http://schemas.openxmlformats.org/officeDocument/2006/relationships/image" Target="../media/image23.jpeg"/><Relationship Id="rId21" Type="http://schemas.openxmlformats.org/officeDocument/2006/relationships/image" Target="../media/image22.webp"/><Relationship Id="rId20" Type="http://schemas.openxmlformats.org/officeDocument/2006/relationships/hyperlink" Target="https://www.xiaohongshu.com/explore/68f630d60000000007034761?xsec_token=ABahfP1rKHUNpJr_rCESUV1x7iS9xeEJaUqGxoy43nwO8=&amp;xsec_source=pc_user" TargetMode="External"/><Relationship Id="rId2" Type="http://schemas.openxmlformats.org/officeDocument/2006/relationships/hyperlink" Target="https://www.xiaohongshu.com/explore/68eb1f3d00000000030201ef?xsec_token=ABMIrmU_LbTU7PKoocDyGSzGmKQhQpS_SGbonL48twHI0=&amp;xsec_source=pc_user" TargetMode="External"/><Relationship Id="rId19" Type="http://schemas.openxmlformats.org/officeDocument/2006/relationships/hyperlink" Target="https://www.xiaohongshu.com/explore/68e79f1e000000000303acaf?xsec_token=ABRjOcMKjloirzdumZZYtL6-A97-PJEVy4T6fr89Cnj_s=&amp;xsec_source=pc_user" TargetMode="External"/><Relationship Id="rId18" Type="http://schemas.openxmlformats.org/officeDocument/2006/relationships/hyperlink" Target="https://www.xiaohongshu.com/explore/68de1c12000000000300c7fd?xsec_token=ABYv5OdyAC3ek53APbtplW-v5adFTYQQi9WIcyGQpJEzU=&amp;xsec_source=pc_user" TargetMode="External"/><Relationship Id="rId17" Type="http://schemas.openxmlformats.org/officeDocument/2006/relationships/hyperlink" Target="https://www.xiaohongshu.com/explore/68f1fe0d00000000070091b4?xsec_token=ABP8DBONv4E2V8Va77OIwBOmLuMBEpj_57PDiO8E9IPXE=&amp;xsec_source=pc_user" TargetMode="External"/><Relationship Id="rId16" Type="http://schemas.openxmlformats.org/officeDocument/2006/relationships/hyperlink" Target="https://www.xiaohongshu.com/explore/68d0cfd90000000013012dc9?xsec_token=ABRM1XxCwHaD8_cxbj2KWLKoVtjRsgZWI78W3smY7CrOY=&amp;xsec_source=pc_user" TargetMode="External"/><Relationship Id="rId15" Type="http://schemas.openxmlformats.org/officeDocument/2006/relationships/hyperlink" Target="https://www.xiaohongshu.com/explore/68db7a4c000000000400214e?xsec_token=ABshzwdB2KRyOp_SeBo5Hpsqm4NGzUmgeBo85czl_cX-M=&amp;xsec_source=pc_user" TargetMode="External"/><Relationship Id="rId14" Type="http://schemas.openxmlformats.org/officeDocument/2006/relationships/hyperlink" Target="https://www.xiaohongshu.com/explore/68eb5304000000000700a289?xsec_token=ABMIrmU_LbTU7PKoocDyGSzBH4hwspoHo0Iu_oiwGY_Rw=&amp;xsec_source=pc_user" TargetMode="External"/><Relationship Id="rId13" Type="http://schemas.openxmlformats.org/officeDocument/2006/relationships/hyperlink" Target="https://www.xiaohongshu.com/explore/68dcbf0f000000000301a250?xsec_token=ABKXkOiQXeCWVK69sqNrlf6CjkyuwoXaRYIb1Q7gOs7Io=&amp;xsec_source=pc_user" TargetMode="External"/><Relationship Id="rId12" Type="http://schemas.openxmlformats.org/officeDocument/2006/relationships/hyperlink" Target="https://www.xiaohongshu.com/explore/68f4693600000000070026c1?xsec_token=ABRmMH-OAyyhtCrfU8PdoNKRzhI7dpxvj6iH1Ddy3ejh4=&amp;xsec_source=pc_user" TargetMode="External"/><Relationship Id="rId11" Type="http://schemas.openxmlformats.org/officeDocument/2006/relationships/hyperlink" Target="https://www.xiaohongshu.com/explore/68e0055b0000000007034704?xsec_token=ABd1RvstMAxmj_8gEUTR5A4aFNKYxrlZ8n4xe9YdW3bSY=&amp;xsec_source=pc_user" TargetMode="External"/><Relationship Id="rId10" Type="http://schemas.openxmlformats.org/officeDocument/2006/relationships/hyperlink" Target="https://www.xiaohongshu.com/explore/68f22fcb0000000007037f7a?xsec_token=ABoW52oe5QZU_2CL5cUgmvi43IUXneGvzGE9W3xUWKMaQ=&amp;xsec_source=pc_user" TargetMode="External"/><Relationship Id="rId1" Type="http://schemas.openxmlformats.org/officeDocument/2006/relationships/hyperlink" Target="https://www.xiaohongshu.com/explore/68ec838d0000000004015f6a?xsec_token=ABjMlEO6K6CmddQXXn13i8RIdbLseBYxCQ5I_-2bP7TzM=&amp;xsec_source=pc_user" TargetMode="Externa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ebp"/><Relationship Id="rId8" Type="http://schemas.openxmlformats.org/officeDocument/2006/relationships/hyperlink" Target="https://www.xiaohongshu.com/explore/68ea2b30000000000700d45a?xsec_token=ABmewPH3zvDjmUc1HuKWvkBngRSIrnpfATzdNSho1KY-Y=&amp;xsec_source=pc_user" TargetMode="External"/><Relationship Id="rId7" Type="http://schemas.openxmlformats.org/officeDocument/2006/relationships/hyperlink" Target="https://www.xiaohongshu.com/explore/68dd3ebe0000000007033536?xsec_token=ABqy2RvXDED9ZTs3oi9mSSPdZ6SJb7vcP52o0CapSe7KY=&amp;xsec_source=pc_user" TargetMode="External"/><Relationship Id="rId6" Type="http://schemas.openxmlformats.org/officeDocument/2006/relationships/hyperlink" Target="https://www.xiaohongshu.com/explore/68e6847c000000000703a964?xsec_token=ABud2B784Lhi9HhXjWwVRybKdcoQ0d_5U-NCZjuUoQ91g=&amp;xsec_source=pc_user" TargetMode="External"/><Relationship Id="rId5" Type="http://schemas.openxmlformats.org/officeDocument/2006/relationships/hyperlink" Target="https://www.xiaohongshu.com/explore/68dc8dd000000000070388b0?xsec_token=ABKXkOiQXeCWVK69sqNrlf6PtS4b2DI7WcI0wZYR4pwyg=&amp;xsec_source=pc_user" TargetMode="External"/><Relationship Id="rId4" Type="http://schemas.openxmlformats.org/officeDocument/2006/relationships/hyperlink" Target="https://www.xiaohongshu.com/explore/68e32f8d0000000007014c57?xsec_token=ABNldut-3JBgDWVu7Px_xQmYVq-4amBEIfSTeRVbn4lAE=&amp;xsec_source=pc_user" TargetMode="External"/><Relationship Id="rId3" Type="http://schemas.openxmlformats.org/officeDocument/2006/relationships/hyperlink" Target="https://www.xiaohongshu.com/explore/68e611cb00000000070004f9?xsec_token=ABud2B784Lhi9HhXjWwVRybKFEK7WA32__7jzmT1H6Q4k=&amp;xsec_source=pc_user" TargetMode="External"/><Relationship Id="rId2" Type="http://schemas.openxmlformats.org/officeDocument/2006/relationships/hyperlink" Target="https://www.xiaohongshu.com/explore/68dde2ba0000000005012101?xsec_token=ABqy2RvXDED9ZTs3oi9mSSPbQ_v9JTnJbn21yTa07pDJU=&amp;xsec_source=pc_user" TargetMode="Externa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9.webp"/><Relationship Id="rId15" Type="http://schemas.openxmlformats.org/officeDocument/2006/relationships/image" Target="../media/image48.webp"/><Relationship Id="rId14" Type="http://schemas.openxmlformats.org/officeDocument/2006/relationships/image" Target="../media/image47.webp"/><Relationship Id="rId13" Type="http://schemas.openxmlformats.org/officeDocument/2006/relationships/image" Target="../media/image46.webp"/><Relationship Id="rId12" Type="http://schemas.openxmlformats.org/officeDocument/2006/relationships/image" Target="../media/image45.jpeg"/><Relationship Id="rId11" Type="http://schemas.openxmlformats.org/officeDocument/2006/relationships/image" Target="../media/image44.jpeg"/><Relationship Id="rId10" Type="http://schemas.openxmlformats.org/officeDocument/2006/relationships/image" Target="../media/image43.webp"/><Relationship Id="rId1" Type="http://schemas.openxmlformats.org/officeDocument/2006/relationships/hyperlink" Target="https://www.xiaohongshu.com/explore/68dcb3d800000000050390cb?xsec_token=ABKXkOiQXeCWVK69sqNrlf6DFXBqD6w-ykCQT7g2nNw5s=&amp;xsec_source=pc_user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jpeg"/><Relationship Id="rId7" Type="http://schemas.openxmlformats.org/officeDocument/2006/relationships/image" Target="../media/image56.jpeg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2.jpeg"/><Relationship Id="rId3" Type="http://schemas.openxmlformats.org/officeDocument/2006/relationships/image" Target="../media/image51.jpeg"/><Relationship Id="rId2" Type="http://schemas.openxmlformats.org/officeDocument/2006/relationships/image" Target="../media/image5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1.webp"/><Relationship Id="rId5" Type="http://schemas.openxmlformats.org/officeDocument/2006/relationships/image" Target="../media/image60.webp"/><Relationship Id="rId4" Type="http://schemas.openxmlformats.org/officeDocument/2006/relationships/image" Target="../media/image59.webp"/><Relationship Id="rId3" Type="http://schemas.openxmlformats.org/officeDocument/2006/relationships/hyperlink" Target="https://www.xiaohongshu.com/explore/68d22df5000000001101fd08?xsec_token=ABSeWWW3S6OkzKmAc_on3nW45_Ce5S-cHSF8My3yLTulo=&amp;xsec_source=pc_user" TargetMode="External"/><Relationship Id="rId2" Type="http://schemas.openxmlformats.org/officeDocument/2006/relationships/hyperlink" Target="https://www.xiaohongshu.com/explore/68e490e3000000000503144f?xsec_token=ABGz8zhWSy5YTL4V76eURtaA0pg-lZppIMq4olMLtd21o=&amp;xsec_source=pc_user" TargetMode="External"/><Relationship Id="rId1" Type="http://schemas.openxmlformats.org/officeDocument/2006/relationships/hyperlink" Target="https://www.xiaohongshu.com/explore/68d12822000000000b03ec43?xsec_token=ABgH-pZr9H_T6CXX_297QQX-WuDlYqOtOMQ3skDOewIzY=&amp;xsec_source=pc_us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Retail Dashboard</a:t>
            </a:r>
            <a:endParaRPr dirty="0"/>
          </a:p>
        </p:txBody>
      </p:sp>
      <p:sp>
        <p:nvSpPr>
          <p:cNvPr id="6" name="Freeform 20"/>
          <p:cNvSpPr/>
          <p:nvPr/>
        </p:nvSpPr>
        <p:spPr bwMode="auto">
          <a:xfrm>
            <a:off x="372251" y="1821059"/>
            <a:ext cx="1681825" cy="1123753"/>
          </a:xfrm>
          <a:prstGeom prst="roundRect">
            <a:avLst>
              <a:gd name="adj" fmla="val 8906"/>
            </a:avLst>
          </a:prstGeom>
          <a:solidFill>
            <a:schemeClr val="tx1">
              <a:alpha val="5000"/>
            </a:schemeClr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en-US" sz="3200">
              <a:latin typeface="FarnhamDisplay Regular"/>
            </a:endParaRPr>
          </a:p>
        </p:txBody>
      </p:sp>
      <p:sp>
        <p:nvSpPr>
          <p:cNvPr id="7" name="TextBox 33"/>
          <p:cNvSpPr txBox="1"/>
          <p:nvPr/>
        </p:nvSpPr>
        <p:spPr>
          <a:xfrm>
            <a:off x="522349" y="1916127"/>
            <a:ext cx="868828" cy="2687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/>
                <a:cs typeface="Farah" panose="00000400000000000000" pitchFamily="2" charset="-78"/>
                <a:sym typeface="Graphik"/>
              </a:rPr>
              <a:t>Piloting Account</a:t>
            </a:r>
            <a:endParaRPr kumimoji="0" lang="en-US" sz="9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Regular"/>
              <a:cs typeface="Farah" panose="00000400000000000000" pitchFamily="2" charset="-78"/>
              <a:sym typeface="Graphik"/>
            </a:endParaRPr>
          </a:p>
        </p:txBody>
      </p:sp>
      <p:sp>
        <p:nvSpPr>
          <p:cNvPr id="8" name="TextBox 34"/>
          <p:cNvSpPr txBox="1"/>
          <p:nvPr/>
        </p:nvSpPr>
        <p:spPr>
          <a:xfrm>
            <a:off x="516713" y="2044275"/>
            <a:ext cx="841577" cy="25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800" dirty="0">
                <a:latin typeface="FarnhamDisplay Regular"/>
                <a:ea typeface="PingFang HK" panose="020B0400000000000000" pitchFamily="34" charset="-120"/>
              </a:rPr>
              <a:t>当前KOSA账号数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Regular"/>
              <a:ea typeface="PingFang HK" panose="020B0400000000000000" pitchFamily="34" charset="-120"/>
              <a:sym typeface="Graphik"/>
            </a:endParaRPr>
          </a:p>
        </p:txBody>
      </p:sp>
      <p:grpSp>
        <p:nvGrpSpPr>
          <p:cNvPr id="9" name="Group 52"/>
          <p:cNvGrpSpPr/>
          <p:nvPr/>
        </p:nvGrpSpPr>
        <p:grpSpPr>
          <a:xfrm>
            <a:off x="2271307" y="1821059"/>
            <a:ext cx="1681825" cy="1123753"/>
            <a:chOff x="2041193" y="1884900"/>
            <a:chExt cx="1681825" cy="1123753"/>
          </a:xfrm>
        </p:grpSpPr>
        <p:sp>
          <p:nvSpPr>
            <p:cNvPr id="10" name="Freeform 20"/>
            <p:cNvSpPr/>
            <p:nvPr/>
          </p:nvSpPr>
          <p:spPr bwMode="auto">
            <a:xfrm>
              <a:off x="2041193" y="1884900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11" name="TextBox 36"/>
            <p:cNvSpPr txBox="1"/>
            <p:nvPr/>
          </p:nvSpPr>
          <p:spPr>
            <a:xfrm>
              <a:off x="2167227" y="1979968"/>
              <a:ext cx="1434688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Account </a:t>
              </a: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with </a:t>
              </a:r>
              <a:r>
                <a:rPr 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Paid</a:t>
              </a:r>
              <a:r>
                <a:rPr lang="zh-CN" alt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 </a:t>
              </a:r>
              <a:r>
                <a:rPr lang="en-US" altLang="zh-CN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Promo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12" name="TextBox 37"/>
            <p:cNvSpPr txBox="1"/>
            <p:nvPr/>
          </p:nvSpPr>
          <p:spPr>
            <a:xfrm>
              <a:off x="2173623" y="2108116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投广账号总数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13" name="Group 53"/>
          <p:cNvGrpSpPr/>
          <p:nvPr/>
        </p:nvGrpSpPr>
        <p:grpSpPr>
          <a:xfrm>
            <a:off x="4170363" y="1821059"/>
            <a:ext cx="1681825" cy="1123753"/>
            <a:chOff x="3855448" y="1884559"/>
            <a:chExt cx="1681825" cy="1123753"/>
          </a:xfrm>
        </p:grpSpPr>
        <p:sp>
          <p:nvSpPr>
            <p:cNvPr id="14" name="Freeform 20"/>
            <p:cNvSpPr/>
            <p:nvPr/>
          </p:nvSpPr>
          <p:spPr bwMode="auto">
            <a:xfrm>
              <a:off x="3855448" y="1884559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15" name="TextBox 39"/>
            <p:cNvSpPr txBox="1"/>
            <p:nvPr/>
          </p:nvSpPr>
          <p:spPr>
            <a:xfrm>
              <a:off x="3981482" y="1979627"/>
              <a:ext cx="944169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Notes Published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16" name="TextBox 40"/>
            <p:cNvSpPr txBox="1"/>
            <p:nvPr/>
          </p:nvSpPr>
          <p:spPr>
            <a:xfrm>
              <a:off x="3987878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发布笔记数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17" name="Group 54"/>
          <p:cNvGrpSpPr/>
          <p:nvPr/>
        </p:nvGrpSpPr>
        <p:grpSpPr>
          <a:xfrm>
            <a:off x="6069419" y="1821059"/>
            <a:ext cx="1676189" cy="1123753"/>
            <a:chOff x="5663307" y="1884559"/>
            <a:chExt cx="1676189" cy="1123753"/>
          </a:xfrm>
        </p:grpSpPr>
        <p:sp>
          <p:nvSpPr>
            <p:cNvPr id="18" name="Freeform 20"/>
            <p:cNvSpPr/>
            <p:nvPr/>
          </p:nvSpPr>
          <p:spPr bwMode="auto">
            <a:xfrm>
              <a:off x="5663307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19" name="TextBox 43"/>
            <p:cNvSpPr txBox="1"/>
            <p:nvPr/>
          </p:nvSpPr>
          <p:spPr>
            <a:xfrm>
              <a:off x="5789341" y="1979627"/>
              <a:ext cx="1296830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Notes with Paid Promo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20" name="TextBox 44"/>
            <p:cNvSpPr txBox="1"/>
            <p:nvPr/>
          </p:nvSpPr>
          <p:spPr>
            <a:xfrm>
              <a:off x="5795737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投广笔记数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21" name="Group 55"/>
          <p:cNvGrpSpPr/>
          <p:nvPr/>
        </p:nvGrpSpPr>
        <p:grpSpPr>
          <a:xfrm>
            <a:off x="7962839" y="1821059"/>
            <a:ext cx="1676189" cy="1123753"/>
            <a:chOff x="7465530" y="1884559"/>
            <a:chExt cx="1676189" cy="1123753"/>
          </a:xfrm>
        </p:grpSpPr>
        <p:sp>
          <p:nvSpPr>
            <p:cNvPr id="22" name="Freeform 20"/>
            <p:cNvSpPr/>
            <p:nvPr/>
          </p:nvSpPr>
          <p:spPr bwMode="auto">
            <a:xfrm>
              <a:off x="7465530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23" name="TextBox 46"/>
            <p:cNvSpPr txBox="1"/>
            <p:nvPr/>
          </p:nvSpPr>
          <p:spPr>
            <a:xfrm>
              <a:off x="7578501" y="1942248"/>
              <a:ext cx="1061658" cy="434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825500"/>
              <a:r>
                <a:rPr lang="en-US" altLang="zh-CN" sz="900" dirty="0">
                  <a:latin typeface="FarnhamDisplay Regular"/>
                </a:rPr>
                <a:t>Engagement</a:t>
              </a:r>
              <a:endParaRPr lang="en-US" altLang="zh-CN" sz="900" dirty="0">
                <a:latin typeface="FarnhamDisplay Regular"/>
              </a:endParaRPr>
            </a:p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24" name="TextBox 47"/>
            <p:cNvSpPr txBox="1"/>
            <p:nvPr/>
          </p:nvSpPr>
          <p:spPr>
            <a:xfrm>
              <a:off x="7597960" y="2107775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笔记</a:t>
              </a:r>
              <a:r>
                <a:rPr lang="zh-CN" alt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总互动数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25" name="Group 56"/>
          <p:cNvGrpSpPr/>
          <p:nvPr/>
        </p:nvGrpSpPr>
        <p:grpSpPr>
          <a:xfrm>
            <a:off x="9886306" y="1821059"/>
            <a:ext cx="1932322" cy="1123753"/>
            <a:chOff x="9274149" y="1884559"/>
            <a:chExt cx="1932322" cy="1123753"/>
          </a:xfrm>
        </p:grpSpPr>
        <p:sp>
          <p:nvSpPr>
            <p:cNvPr id="26" name="Freeform 20"/>
            <p:cNvSpPr/>
            <p:nvPr/>
          </p:nvSpPr>
          <p:spPr bwMode="auto">
            <a:xfrm>
              <a:off x="9274149" y="1884559"/>
              <a:ext cx="1932322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TextBox 50"/>
            <p:cNvSpPr txBox="1"/>
            <p:nvPr/>
          </p:nvSpPr>
          <p:spPr>
            <a:xfrm>
              <a:off x="9406579" y="2107775"/>
              <a:ext cx="923330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投广带来的</a:t>
              </a:r>
              <a:r>
                <a:rPr lang="zh-CN" alt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互动量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28" name="Group 345"/>
          <p:cNvGrpSpPr/>
          <p:nvPr/>
        </p:nvGrpSpPr>
        <p:grpSpPr>
          <a:xfrm>
            <a:off x="2263637" y="3103380"/>
            <a:ext cx="1681825" cy="1123753"/>
            <a:chOff x="2041193" y="1884900"/>
            <a:chExt cx="1681825" cy="1123753"/>
          </a:xfrm>
        </p:grpSpPr>
        <p:sp>
          <p:nvSpPr>
            <p:cNvPr id="29" name="Freeform 20"/>
            <p:cNvSpPr/>
            <p:nvPr/>
          </p:nvSpPr>
          <p:spPr bwMode="auto">
            <a:xfrm>
              <a:off x="2041193" y="1884900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TextBox 347"/>
            <p:cNvSpPr txBox="1"/>
            <p:nvPr/>
          </p:nvSpPr>
          <p:spPr>
            <a:xfrm>
              <a:off x="2167227" y="1979968"/>
              <a:ext cx="1062791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Inquiries Received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31" name="TextBox 348"/>
            <p:cNvSpPr txBox="1"/>
            <p:nvPr/>
          </p:nvSpPr>
          <p:spPr>
            <a:xfrm>
              <a:off x="2173623" y="2108116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私信开口数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sp>
        <p:nvSpPr>
          <p:cNvPr id="32" name="Freeform 20"/>
          <p:cNvSpPr/>
          <p:nvPr/>
        </p:nvSpPr>
        <p:spPr bwMode="auto">
          <a:xfrm>
            <a:off x="9886695" y="3112179"/>
            <a:ext cx="1924263" cy="1123753"/>
          </a:xfrm>
          <a:prstGeom prst="roundRect">
            <a:avLst>
              <a:gd name="adj" fmla="val 8906"/>
            </a:avLst>
          </a:prstGeom>
          <a:solidFill>
            <a:schemeClr val="accent5">
              <a:lumMod val="40000"/>
              <a:lumOff val="60000"/>
            </a:schemeClr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en-US" sz="3200"/>
          </a:p>
        </p:txBody>
      </p:sp>
      <p:grpSp>
        <p:nvGrpSpPr>
          <p:cNvPr id="33" name="Group 353"/>
          <p:cNvGrpSpPr/>
          <p:nvPr/>
        </p:nvGrpSpPr>
        <p:grpSpPr>
          <a:xfrm>
            <a:off x="4156749" y="3103380"/>
            <a:ext cx="1676189" cy="1123753"/>
            <a:chOff x="5663307" y="1884559"/>
            <a:chExt cx="1676189" cy="1123753"/>
          </a:xfrm>
        </p:grpSpPr>
        <p:sp>
          <p:nvSpPr>
            <p:cNvPr id="34" name="Freeform 20"/>
            <p:cNvSpPr/>
            <p:nvPr/>
          </p:nvSpPr>
          <p:spPr bwMode="auto">
            <a:xfrm>
              <a:off x="5663307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TextBox 355"/>
            <p:cNvSpPr txBox="1"/>
            <p:nvPr/>
          </p:nvSpPr>
          <p:spPr>
            <a:xfrm>
              <a:off x="5789341" y="1979627"/>
              <a:ext cx="1194238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WeCom Recruitment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36" name="TextBox 356"/>
            <p:cNvSpPr txBox="1"/>
            <p:nvPr/>
          </p:nvSpPr>
          <p:spPr>
            <a:xfrm>
              <a:off x="5795737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企微留资数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37" name="Group 357"/>
          <p:cNvGrpSpPr/>
          <p:nvPr/>
        </p:nvGrpSpPr>
        <p:grpSpPr>
          <a:xfrm>
            <a:off x="6050169" y="3103380"/>
            <a:ext cx="1779865" cy="1123753"/>
            <a:chOff x="7465530" y="1884559"/>
            <a:chExt cx="1779865" cy="1123753"/>
          </a:xfrm>
        </p:grpSpPr>
        <p:sp>
          <p:nvSpPr>
            <p:cNvPr id="38" name="Freeform 20"/>
            <p:cNvSpPr/>
            <p:nvPr/>
          </p:nvSpPr>
          <p:spPr bwMode="auto">
            <a:xfrm>
              <a:off x="7465530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TextBox 359"/>
            <p:cNvSpPr txBox="1"/>
            <p:nvPr/>
          </p:nvSpPr>
          <p:spPr>
            <a:xfrm>
              <a:off x="7551020" y="1979627"/>
              <a:ext cx="1694375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WeCom Recruiment Efficiency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40" name="TextBox 360"/>
            <p:cNvSpPr txBox="1"/>
            <p:nvPr/>
          </p:nvSpPr>
          <p:spPr>
            <a:xfrm>
              <a:off x="7564892" y="2107229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企微招募效率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41" name="Group 361"/>
          <p:cNvGrpSpPr/>
          <p:nvPr/>
        </p:nvGrpSpPr>
        <p:grpSpPr>
          <a:xfrm>
            <a:off x="7973636" y="3103380"/>
            <a:ext cx="1665392" cy="1123753"/>
            <a:chOff x="9274149" y="1884559"/>
            <a:chExt cx="1932322" cy="1123753"/>
          </a:xfrm>
        </p:grpSpPr>
        <p:sp>
          <p:nvSpPr>
            <p:cNvPr id="42" name="Freeform 20"/>
            <p:cNvSpPr/>
            <p:nvPr/>
          </p:nvSpPr>
          <p:spPr bwMode="auto">
            <a:xfrm>
              <a:off x="9274149" y="1884559"/>
              <a:ext cx="1932322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43" name="TextBox 363"/>
            <p:cNvSpPr txBox="1"/>
            <p:nvPr/>
          </p:nvSpPr>
          <p:spPr>
            <a:xfrm>
              <a:off x="9400183" y="1979627"/>
              <a:ext cx="1540486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CPR </a:t>
              </a:r>
              <a:r>
                <a:rPr 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(Cost per Recruitment)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44" name="TextBox 364"/>
            <p:cNvSpPr txBox="1"/>
            <p:nvPr/>
          </p:nvSpPr>
          <p:spPr>
            <a:xfrm>
              <a:off x="9406579" y="2107775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企微留资成本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aphicFrame>
        <p:nvGraphicFramePr>
          <p:cNvPr id="45" name="Table 366"/>
          <p:cNvGraphicFramePr>
            <a:graphicFrameLocks noGrp="1"/>
          </p:cNvGraphicFramePr>
          <p:nvPr/>
        </p:nvGraphicFramePr>
        <p:xfrm>
          <a:off x="509043" y="4643966"/>
          <a:ext cx="11208890" cy="1934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270"/>
                <a:gridCol w="1601270"/>
                <a:gridCol w="1601270"/>
                <a:gridCol w="1601270"/>
                <a:gridCol w="1601270"/>
                <a:gridCol w="1601270"/>
                <a:gridCol w="1601270"/>
              </a:tblGrid>
              <a:tr h="36543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Store Code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所属店铺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Notes Published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发布笔记数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Engagement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笔记互动量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Inquires Received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/>
                        </a:rPr>
                        <a:t>私信开口数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/>
                          <a:ea typeface="+mn-ea"/>
                          <a:cs typeface="+mn-cs"/>
                          <a:sym typeface="Graphik"/>
                        </a:rPr>
                        <a:t>WeCom Recruitment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arnhamDisplay Regular"/>
                          <a:ea typeface="PingFang HK" panose="020B0400000000000000" pitchFamily="34" charset="-120"/>
                          <a:sym typeface="Graphik"/>
                        </a:rPr>
                        <a:t>企微留资数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arnhamDisplay Regular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/>
                          <a:ea typeface="+mn-ea"/>
                          <a:cs typeface="+mn-cs"/>
                          <a:sym typeface="Graphik"/>
                        </a:rPr>
                        <a:t>Turnover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arnhamDisplay Regular"/>
                          <a:ea typeface="PingFang HK" panose="020B0400000000000000" pitchFamily="34" charset="-120"/>
                          <a:sym typeface="Graphik"/>
                        </a:rPr>
                        <a:t>期间成交量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arnhamDisplay Regular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Sylvia Ma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MNDJ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¥31,000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Vanna Xue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MNDJ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¥25,700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Adeline Lei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MCS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¥17,220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6" name="TextBox 367"/>
          <p:cNvSpPr txBox="1"/>
          <p:nvPr/>
        </p:nvSpPr>
        <p:spPr>
          <a:xfrm>
            <a:off x="10017263" y="3198448"/>
            <a:ext cx="613951" cy="2687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b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rPr>
              <a:t>Turnover</a:t>
            </a:r>
            <a:endParaRPr kumimoji="0" lang="en-US" sz="900" b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Regular" panose="02000503080000020004" pitchFamily="2" charset="77"/>
              <a:cs typeface="Farah" panose="00000400000000000000" pitchFamily="2" charset="-78"/>
              <a:sym typeface="Graphik"/>
            </a:endParaRPr>
          </a:p>
        </p:txBody>
      </p:sp>
      <p:sp>
        <p:nvSpPr>
          <p:cNvPr id="47" name="TextBox 368"/>
          <p:cNvSpPr txBox="1"/>
          <p:nvPr/>
        </p:nvSpPr>
        <p:spPr>
          <a:xfrm>
            <a:off x="10023659" y="3326596"/>
            <a:ext cx="615553" cy="25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rPr>
              <a:t>期间成交量</a:t>
            </a:r>
            <a:endParaRPr kumimoji="0" lang="en-US" sz="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ingFang HK" panose="020B0400000000000000" pitchFamily="34" charset="-120"/>
              <a:ea typeface="PingFang HK" panose="020B0400000000000000" pitchFamily="34" charset="-120"/>
              <a:sym typeface="Graphik"/>
            </a:endParaRPr>
          </a:p>
        </p:txBody>
      </p:sp>
      <p:sp>
        <p:nvSpPr>
          <p:cNvPr id="48" name="TextBox 369"/>
          <p:cNvSpPr txBox="1"/>
          <p:nvPr/>
        </p:nvSpPr>
        <p:spPr>
          <a:xfrm>
            <a:off x="3502922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FarnhamDisplay Regular" panose="02000503080000020004" pitchFamily="2" charset="77"/>
              <a:sym typeface="Graphik"/>
            </a:endParaRPr>
          </a:p>
          <a:p>
            <a:pPr marL="0" marR="0" indent="0" algn="l" defTabSz="825500" rtl="0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2025.10.20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kumimoji="0" lang="en-US" sz="1000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FarnhamDisplay Regular" panose="02000503080000020004" pitchFamily="2" charset="77"/>
              <a:sym typeface="Graphik"/>
            </a:endParaRPr>
          </a:p>
        </p:txBody>
      </p:sp>
      <p:sp>
        <p:nvSpPr>
          <p:cNvPr id="49" name="TextBox 372"/>
          <p:cNvSpPr txBox="1"/>
          <p:nvPr/>
        </p:nvSpPr>
        <p:spPr>
          <a:xfrm>
            <a:off x="474067" y="4545737"/>
            <a:ext cx="844783" cy="305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Weekly Top</a:t>
            </a:r>
            <a:r>
              <a:rPr kumimoji="0" lang="zh-CN" altLang="en-U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 </a:t>
            </a:r>
            <a:r>
              <a:rPr kumimoji="0" lang="en-US" altLang="zh-CN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3</a:t>
            </a:r>
            <a:endParaRPr kumimoji="0" lang="en-US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LightItal" panose="02000503070000020004" pitchFamily="2" charset="77"/>
              <a:sym typeface="Graphik"/>
            </a:endParaRPr>
          </a:p>
        </p:txBody>
      </p:sp>
      <p:sp>
        <p:nvSpPr>
          <p:cNvPr id="50" name="TextBox 5"/>
          <p:cNvSpPr txBox="1"/>
          <p:nvPr/>
        </p:nvSpPr>
        <p:spPr>
          <a:xfrm>
            <a:off x="1746202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13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51" name="TextBox 5"/>
          <p:cNvSpPr txBox="1"/>
          <p:nvPr/>
        </p:nvSpPr>
        <p:spPr>
          <a:xfrm>
            <a:off x="5531722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28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52" name="TextBox 5"/>
          <p:cNvSpPr txBox="1"/>
          <p:nvPr/>
        </p:nvSpPr>
        <p:spPr>
          <a:xfrm>
            <a:off x="9416511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56</a:t>
            </a:r>
            <a:endParaRPr lang="en-US" sz="2800" b="1" dirty="0">
              <a:latin typeface="FarnhamDisplay Regular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64581" y="3103380"/>
            <a:ext cx="1681825" cy="1123753"/>
            <a:chOff x="364581" y="3103380"/>
            <a:chExt cx="1681825" cy="1123753"/>
          </a:xfrm>
        </p:grpSpPr>
        <p:grpSp>
          <p:nvGrpSpPr>
            <p:cNvPr id="54" name="Group 340"/>
            <p:cNvGrpSpPr/>
            <p:nvPr/>
          </p:nvGrpSpPr>
          <p:grpSpPr>
            <a:xfrm>
              <a:off x="364581" y="3103380"/>
              <a:ext cx="1681825" cy="1123753"/>
              <a:chOff x="233334" y="1884559"/>
              <a:chExt cx="1681825" cy="1123753"/>
            </a:xfrm>
          </p:grpSpPr>
          <p:sp>
            <p:nvSpPr>
              <p:cNvPr id="56" name="Freeform 20"/>
              <p:cNvSpPr/>
              <p:nvPr/>
            </p:nvSpPr>
            <p:spPr bwMode="auto">
              <a:xfrm>
                <a:off x="233334" y="1884559"/>
                <a:ext cx="1681825" cy="1123753"/>
              </a:xfrm>
              <a:prstGeom prst="roundRect">
                <a:avLst>
                  <a:gd name="adj" fmla="val 8906"/>
                </a:avLst>
              </a:prstGeom>
              <a:solidFill>
                <a:schemeClr val="tx1">
                  <a:alpha val="5000"/>
                </a:schemeClr>
              </a:solidFill>
              <a:ln w="12700" cap="rnd"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57" name="TextBox 343"/>
              <p:cNvSpPr txBox="1"/>
              <p:nvPr/>
            </p:nvSpPr>
            <p:spPr>
              <a:xfrm>
                <a:off x="361927" y="1979627"/>
                <a:ext cx="865622" cy="26879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sz="90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FarnhamDisplay Regular" panose="02000503080000020004" pitchFamily="2" charset="77"/>
                    <a:cs typeface="Farah" panose="00000400000000000000" pitchFamily="2" charset="-78"/>
                    <a:sym typeface="Graphik"/>
                  </a:rPr>
                  <a:t>Chats Initiated</a:t>
                </a:r>
                <a:endPara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endParaRPr>
              </a:p>
            </p:txBody>
          </p:sp>
          <p:sp>
            <p:nvSpPr>
              <p:cNvPr id="58" name="TextBox 344"/>
              <p:cNvSpPr txBox="1"/>
              <p:nvPr/>
            </p:nvSpPr>
            <p:spPr>
              <a:xfrm>
                <a:off x="361927" y="2107775"/>
                <a:ext cx="615553" cy="2503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825500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PingFang HK" panose="020B0400000000000000" pitchFamily="34" charset="-120"/>
                    <a:ea typeface="PingFang HK" panose="020B0400000000000000" pitchFamily="34" charset="-120"/>
                    <a:sym typeface="Graphik"/>
                  </a:rPr>
                  <a:t>私信进线数</a:t>
                </a:r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endParaRPr>
              </a:p>
            </p:txBody>
          </p:sp>
        </p:grpSp>
        <p:sp>
          <p:nvSpPr>
            <p:cNvPr id="55" name="TextBox 5"/>
            <p:cNvSpPr txBox="1"/>
            <p:nvPr/>
          </p:nvSpPr>
          <p:spPr>
            <a:xfrm>
              <a:off x="447766" y="3535815"/>
              <a:ext cx="1062990" cy="60769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b="1" dirty="0">
                  <a:latin typeface="FarnhamDisplay Regular"/>
                </a:rPr>
                <a:t>496</a:t>
              </a:r>
              <a:endParaRPr lang="en-US" sz="2800" b="1" dirty="0">
                <a:latin typeface="FarnhamDisplay Regular"/>
              </a:endParaRPr>
            </a:p>
          </p:txBody>
        </p:sp>
      </p:grpSp>
      <p:sp>
        <p:nvSpPr>
          <p:cNvPr id="59" name="TextBox 5"/>
          <p:cNvSpPr txBox="1"/>
          <p:nvPr/>
        </p:nvSpPr>
        <p:spPr>
          <a:xfrm>
            <a:off x="1811670" y="3568539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402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60" name="TextBox 5"/>
          <p:cNvSpPr txBox="1"/>
          <p:nvPr/>
        </p:nvSpPr>
        <p:spPr>
          <a:xfrm>
            <a:off x="3642590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113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61" name="TextBox 5"/>
          <p:cNvSpPr txBox="1"/>
          <p:nvPr/>
        </p:nvSpPr>
        <p:spPr>
          <a:xfrm>
            <a:off x="9781216" y="3596580"/>
            <a:ext cx="1831719" cy="5042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￥</a:t>
            </a:r>
            <a:r>
              <a:rPr lang="en-US" altLang="zh-CN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168,858</a:t>
            </a:r>
            <a:endParaRPr lang="en-US" sz="2400" b="1" dirty="0">
              <a:solidFill>
                <a:schemeClr val="tx1"/>
              </a:solidFill>
              <a:latin typeface="FarnhamDisplay Regular" panose="02000503080000020004" pitchFamily="2" charset="77"/>
            </a:endParaRPr>
          </a:p>
        </p:txBody>
      </p:sp>
      <p:sp>
        <p:nvSpPr>
          <p:cNvPr id="62" name="TextBox 5"/>
          <p:cNvSpPr txBox="1"/>
          <p:nvPr/>
        </p:nvSpPr>
        <p:spPr>
          <a:xfrm>
            <a:off x="3689209" y="358782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FarnhamDisplay Regular"/>
              </a:rPr>
              <a:t>107</a:t>
            </a:r>
            <a:endParaRPr lang="en-US" sz="2800" b="1" dirty="0">
              <a:solidFill>
                <a:schemeClr val="tx1"/>
              </a:solidFill>
              <a:latin typeface="FarnhamDisplay Regular"/>
            </a:endParaRPr>
          </a:p>
        </p:txBody>
      </p:sp>
      <p:sp>
        <p:nvSpPr>
          <p:cNvPr id="63" name="TextBox 5"/>
          <p:cNvSpPr txBox="1"/>
          <p:nvPr/>
        </p:nvSpPr>
        <p:spPr>
          <a:xfrm>
            <a:off x="7705210" y="3589617"/>
            <a:ext cx="1831719" cy="5042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￥</a:t>
            </a:r>
            <a:r>
              <a:rPr lang="en-US" altLang="zh-CN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35.35</a:t>
            </a:r>
            <a:endParaRPr lang="en-US" sz="2400" b="1" dirty="0">
              <a:solidFill>
                <a:schemeClr val="tx1"/>
              </a:solidFill>
              <a:latin typeface="FarnhamDisplay Regular" panose="02000503080000020004" pitchFamily="2" charset="77"/>
            </a:endParaRPr>
          </a:p>
        </p:txBody>
      </p:sp>
      <p:sp>
        <p:nvSpPr>
          <p:cNvPr id="64" name="TextBox 5"/>
          <p:cNvSpPr txBox="1"/>
          <p:nvPr/>
        </p:nvSpPr>
        <p:spPr>
          <a:xfrm>
            <a:off x="5827295" y="3568539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FarnhamDisplay Regular"/>
              </a:rPr>
              <a:t>22.97%</a:t>
            </a:r>
            <a:endParaRPr lang="en-US" sz="2800" b="1" dirty="0">
              <a:solidFill>
                <a:schemeClr val="tx1"/>
              </a:solidFill>
              <a:latin typeface="FarnhamDisplay Regular"/>
            </a:endParaRPr>
          </a:p>
        </p:txBody>
      </p:sp>
      <p:sp>
        <p:nvSpPr>
          <p:cNvPr id="65" name="TextBox 5"/>
          <p:cNvSpPr txBox="1"/>
          <p:nvPr/>
        </p:nvSpPr>
        <p:spPr>
          <a:xfrm>
            <a:off x="7640548" y="2233978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6,499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66" name="TextBox 49"/>
          <p:cNvSpPr txBox="1"/>
          <p:nvPr/>
        </p:nvSpPr>
        <p:spPr>
          <a:xfrm>
            <a:off x="10012339" y="1916127"/>
            <a:ext cx="1744231" cy="2687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US" altLang="zh-CN" sz="900" dirty="0">
                <a:latin typeface="FarnhamDisplay Regular"/>
              </a:rPr>
              <a:t>Engagement</a:t>
            </a:r>
            <a:r>
              <a:rPr lang="en-US" altLang="zh-CN" sz="900" dirty="0">
                <a:latin typeface="FarnhamDisplay Regular"/>
              </a:rPr>
              <a:t> </a:t>
            </a:r>
            <a:r>
              <a:rPr kumimoji="0" lang="en-US" altLang="zh-CN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rPr>
              <a:t>from Paid</a:t>
            </a:r>
            <a:endParaRPr kumimoji="0" lang="en-US" sz="9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Regular" panose="02000503080000020004" pitchFamily="2" charset="77"/>
              <a:cs typeface="Farah" panose="00000400000000000000" pitchFamily="2" charset="-78"/>
              <a:sym typeface="Graphik"/>
            </a:endParaRPr>
          </a:p>
        </p:txBody>
      </p:sp>
      <p:sp>
        <p:nvSpPr>
          <p:cNvPr id="67" name="Triangle 21"/>
          <p:cNvSpPr/>
          <p:nvPr/>
        </p:nvSpPr>
        <p:spPr>
          <a:xfrm rot="10800000">
            <a:off x="11426606" y="3583152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68" name="Triangle 21"/>
          <p:cNvSpPr/>
          <p:nvPr/>
        </p:nvSpPr>
        <p:spPr>
          <a:xfrm rot="10800000">
            <a:off x="1155433" y="358315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69" name="Triangle 21"/>
          <p:cNvSpPr/>
          <p:nvPr/>
        </p:nvSpPr>
        <p:spPr>
          <a:xfrm rot="10800000">
            <a:off x="3092183" y="358315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77" name="TextBox 5"/>
          <p:cNvSpPr txBox="1"/>
          <p:nvPr/>
        </p:nvSpPr>
        <p:spPr>
          <a:xfrm>
            <a:off x="-153092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20</a:t>
            </a:r>
            <a:endParaRPr lang="en-US" sz="2800" b="1" dirty="0">
              <a:latin typeface="FarnhamDisplay Regular"/>
            </a:endParaRPr>
          </a:p>
        </p:txBody>
      </p:sp>
      <p:pic>
        <p:nvPicPr>
          <p:cNvPr id="4" name="ID_BB5876276B6143E795B24E0A9DCA87DD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16890" y="5599612"/>
            <a:ext cx="337185" cy="337185"/>
          </a:xfrm>
          <a:prstGeom prst="rect">
            <a:avLst/>
          </a:prstGeom>
        </p:spPr>
      </p:pic>
      <p:pic>
        <p:nvPicPr>
          <p:cNvPr id="70" name="ID_B7F60470361C40B59B176EF061C0A0F0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16890" y="5104901"/>
            <a:ext cx="337820" cy="337820"/>
          </a:xfrm>
          <a:prstGeom prst="rect">
            <a:avLst/>
          </a:prstGeom>
        </p:spPr>
      </p:pic>
      <p:pic>
        <p:nvPicPr>
          <p:cNvPr id="71" name="ID_100CE1FB837E4F278C80552DA403B6C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16890" y="6093688"/>
            <a:ext cx="336550" cy="337185"/>
          </a:xfrm>
          <a:prstGeom prst="rect">
            <a:avLst/>
          </a:prstGeom>
        </p:spPr>
      </p:pic>
      <p:sp>
        <p:nvSpPr>
          <p:cNvPr id="3" name="Triangle 21"/>
          <p:cNvSpPr/>
          <p:nvPr/>
        </p:nvSpPr>
        <p:spPr>
          <a:xfrm rot="10800000">
            <a:off x="5003533" y="358315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72" name="Triangle 21"/>
          <p:cNvSpPr/>
          <p:nvPr/>
        </p:nvSpPr>
        <p:spPr>
          <a:xfrm>
            <a:off x="7289533" y="3583151"/>
            <a:ext cx="147718" cy="127331"/>
          </a:xfrm>
          <a:prstGeom prst="triangl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73" name="Triangle 21"/>
          <p:cNvSpPr/>
          <p:nvPr/>
        </p:nvSpPr>
        <p:spPr>
          <a:xfrm rot="10800000">
            <a:off x="9194533" y="358315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Retail Piloting Performance</a:t>
            </a:r>
            <a:endParaRPr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1212850" y="1632570"/>
          <a:ext cx="9666893" cy="5045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327"/>
                <a:gridCol w="1584000"/>
                <a:gridCol w="1177761"/>
                <a:gridCol w="1177761"/>
                <a:gridCol w="1177761"/>
                <a:gridCol w="1177761"/>
                <a:gridCol w="1177761"/>
                <a:gridCol w="1177761"/>
              </a:tblGrid>
              <a:tr h="365430">
                <a:tc>
                  <a:txBody>
                    <a:bodyPr/>
                    <a:lstStyle/>
                    <a:p>
                      <a:pPr algn="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Store Code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所属店铺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Notes Published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发布笔记数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Engagement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笔记互动量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Inquires Received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私信开口数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WeCom Recruitment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企微留资数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Turnover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期间成交量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Vanna Xue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MNDJ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22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¥138,960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Ada Liu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MNDJ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38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¥134,360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Sylvia Ma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MNDJ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¥132,850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Guanguan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MQT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32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46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¥98,230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Kern Ding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MCS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¥93,930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Amy Fan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MHMC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¥83,650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Adeline Lei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MCS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53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¥63,570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Bonnie Luo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MZD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36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¥51,700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Summer Wang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MBTK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26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¥48,350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Gold Wang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MWH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¥46,050 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19"/>
          <p:cNvSpPr txBox="1"/>
          <p:nvPr/>
        </p:nvSpPr>
        <p:spPr>
          <a:xfrm>
            <a:off x="4894402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2025.09.29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pic>
        <p:nvPicPr>
          <p:cNvPr id="4" name="ID_BB5876276B6143E795B24E0A9DCA87DD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186940" y="2058579"/>
            <a:ext cx="337185" cy="337185"/>
          </a:xfrm>
          <a:prstGeom prst="rect">
            <a:avLst/>
          </a:prstGeom>
        </p:spPr>
      </p:pic>
      <p:pic>
        <p:nvPicPr>
          <p:cNvPr id="9" name="ID_A0F3ABECE13C4BDEAB1CC2C8BA1D386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186940" y="2520881"/>
            <a:ext cx="337185" cy="337185"/>
          </a:xfrm>
          <a:prstGeom prst="rect">
            <a:avLst/>
          </a:prstGeom>
        </p:spPr>
      </p:pic>
      <p:pic>
        <p:nvPicPr>
          <p:cNvPr id="11" name="ID_B7F60470361C40B59B176EF061C0A0F0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186940" y="2983183"/>
            <a:ext cx="337820" cy="337820"/>
          </a:xfrm>
          <a:prstGeom prst="rect">
            <a:avLst/>
          </a:prstGeom>
        </p:spPr>
      </p:pic>
      <p:pic>
        <p:nvPicPr>
          <p:cNvPr id="13" name="ID_8D24CB4A45C048B8850C9001C105FAE1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186940" y="3446120"/>
            <a:ext cx="337185" cy="337185"/>
          </a:xfrm>
          <a:prstGeom prst="rect">
            <a:avLst/>
          </a:prstGeom>
        </p:spPr>
      </p:pic>
      <p:pic>
        <p:nvPicPr>
          <p:cNvPr id="14" name="ID_D223078AC4134FC486A5E5F86CAAB60B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2186940" y="3908422"/>
            <a:ext cx="337820" cy="337820"/>
          </a:xfrm>
          <a:prstGeom prst="rect">
            <a:avLst/>
          </a:prstGeom>
        </p:spPr>
      </p:pic>
      <p:pic>
        <p:nvPicPr>
          <p:cNvPr id="15" name="ID_A2242398CCCF48DBB9C29D9D119F2B9B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2186940" y="4371359"/>
            <a:ext cx="337185" cy="337185"/>
          </a:xfrm>
          <a:prstGeom prst="rect">
            <a:avLst/>
          </a:prstGeom>
        </p:spPr>
      </p:pic>
      <p:pic>
        <p:nvPicPr>
          <p:cNvPr id="16" name="ID_100CE1FB837E4F278C80552DA403B6C9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2186940" y="4833661"/>
            <a:ext cx="336550" cy="337185"/>
          </a:xfrm>
          <a:prstGeom prst="rect">
            <a:avLst/>
          </a:prstGeom>
        </p:spPr>
      </p:pic>
      <p:pic>
        <p:nvPicPr>
          <p:cNvPr id="17" name="ID_3554C8B1DB6A4CE38E622D0EA5EC5B33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>
          <a:xfrm>
            <a:off x="2186940" y="5295963"/>
            <a:ext cx="337820" cy="337820"/>
          </a:xfrm>
          <a:prstGeom prst="rect">
            <a:avLst/>
          </a:prstGeom>
        </p:spPr>
      </p:pic>
      <p:pic>
        <p:nvPicPr>
          <p:cNvPr id="18" name="ID_E9DC66353F614229B2B3705708026C08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>
          <a:xfrm>
            <a:off x="2186940" y="5758900"/>
            <a:ext cx="337185" cy="337185"/>
          </a:xfrm>
          <a:prstGeom prst="rect">
            <a:avLst/>
          </a:prstGeom>
        </p:spPr>
      </p:pic>
      <p:pic>
        <p:nvPicPr>
          <p:cNvPr id="26" name="ID_4642E30C7DF44FA2A238E8A34AD98254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>
          <a:xfrm>
            <a:off x="2186940" y="6221203"/>
            <a:ext cx="336550" cy="3371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9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Retail Piloting Performance</a:t>
            </a:r>
            <a:endParaRPr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/>
        </p:nvGraphicFramePr>
        <p:xfrm>
          <a:off x="1212850" y="1632570"/>
          <a:ext cx="9666893" cy="5045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327"/>
                <a:gridCol w="1584000"/>
                <a:gridCol w="1177761"/>
                <a:gridCol w="1177761"/>
                <a:gridCol w="1177761"/>
                <a:gridCol w="1177761"/>
                <a:gridCol w="1177761"/>
                <a:gridCol w="1177761"/>
              </a:tblGrid>
              <a:tr h="365430">
                <a:tc>
                  <a:txBody>
                    <a:bodyPr/>
                    <a:lstStyle/>
                    <a:p>
                      <a:pPr algn="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Store Code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所属店铺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Notes Published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发布笔记数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Engagement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笔记互动量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Inquires Received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私信开口数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WeCom Recruitment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企微留资数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Turnover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期间成交量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Aoki Li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MCQM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¥43,760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Eddie Yuan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MJC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¥34,260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Linda Luo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MCQM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¥26,000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Elson Men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MBCW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¥24,910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Eddie Wang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MHMC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¥17,328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Jessica Zhang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MGTKH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40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¥16,250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Nikki Ke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MRE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22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¥15,850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Yuki Zhang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MGTKH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¥14,300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Chenille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MZD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¥12,130 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Ella Wang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MQT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¥10,800 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1" name="TextBox 19"/>
          <p:cNvSpPr txBox="1"/>
          <p:nvPr/>
        </p:nvSpPr>
        <p:spPr>
          <a:xfrm>
            <a:off x="4894402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2025.09.29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pic>
        <p:nvPicPr>
          <p:cNvPr id="4" name="ID_C8AFF3D3995C4C76896C18331308D03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167890" y="2066112"/>
            <a:ext cx="337820" cy="337820"/>
          </a:xfrm>
          <a:prstGeom prst="rect">
            <a:avLst/>
          </a:prstGeom>
        </p:spPr>
      </p:pic>
      <p:pic>
        <p:nvPicPr>
          <p:cNvPr id="5" name="ID_F2F3F67A3FEB479CB23A77739DE11557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167890" y="2535380"/>
            <a:ext cx="337185" cy="337185"/>
          </a:xfrm>
          <a:prstGeom prst="rect">
            <a:avLst/>
          </a:prstGeom>
        </p:spPr>
      </p:pic>
      <p:pic>
        <p:nvPicPr>
          <p:cNvPr id="6" name="ID_C465AF4425C044F3A4A3576C2B9523C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167890" y="3004013"/>
            <a:ext cx="337185" cy="337820"/>
          </a:xfrm>
          <a:prstGeom prst="rect">
            <a:avLst/>
          </a:prstGeom>
        </p:spPr>
      </p:pic>
      <p:pic>
        <p:nvPicPr>
          <p:cNvPr id="7" name="ID_154B5C7B5E4C4FBA8DE3F0A6472ED139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167890" y="3473281"/>
            <a:ext cx="337185" cy="337820"/>
          </a:xfrm>
          <a:prstGeom prst="rect">
            <a:avLst/>
          </a:prstGeom>
        </p:spPr>
      </p:pic>
      <p:pic>
        <p:nvPicPr>
          <p:cNvPr id="8" name="ID_5C4A098153C244C491E4FD42250154EE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2167890" y="3942549"/>
            <a:ext cx="337820" cy="337820"/>
          </a:xfrm>
          <a:prstGeom prst="rect">
            <a:avLst/>
          </a:prstGeom>
        </p:spPr>
      </p:pic>
      <p:pic>
        <p:nvPicPr>
          <p:cNvPr id="9" name="ID_CBC971DFF0D140C785D524CEBD2700A1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2167890" y="4411817"/>
            <a:ext cx="337185" cy="337185"/>
          </a:xfrm>
          <a:prstGeom prst="rect">
            <a:avLst/>
          </a:prstGeom>
        </p:spPr>
      </p:pic>
      <p:pic>
        <p:nvPicPr>
          <p:cNvPr id="10" name="ID_A4155721E21A4F05BB3CF0040053F16E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2167890" y="4880450"/>
            <a:ext cx="336550" cy="337185"/>
          </a:xfrm>
          <a:prstGeom prst="rect">
            <a:avLst/>
          </a:prstGeom>
        </p:spPr>
      </p:pic>
      <p:pic>
        <p:nvPicPr>
          <p:cNvPr id="11" name="ID_7F2FFFCE091C4700BA4AA75D04A769D8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>
          <a:xfrm>
            <a:off x="2167890" y="5349083"/>
            <a:ext cx="337185" cy="337185"/>
          </a:xfrm>
          <a:prstGeom prst="rect">
            <a:avLst/>
          </a:prstGeom>
        </p:spPr>
      </p:pic>
      <p:pic>
        <p:nvPicPr>
          <p:cNvPr id="12" name="ID_29A499BFF3274642B0594D9B770A9380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>
          <a:xfrm>
            <a:off x="2167890" y="5817716"/>
            <a:ext cx="336550" cy="337820"/>
          </a:xfrm>
          <a:prstGeom prst="rect">
            <a:avLst/>
          </a:prstGeom>
        </p:spPr>
      </p:pic>
      <p:pic>
        <p:nvPicPr>
          <p:cNvPr id="13" name="ID_83CDBF900AF5456387B5F95DE92CF9DB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>
          <a:xfrm>
            <a:off x="2167890" y="6286983"/>
            <a:ext cx="335915" cy="3378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pPr hangingPunct="1"/>
            <a:r>
              <a:rPr lang="en-US" altLang="zh-CN" dirty="0"/>
              <a:t>Retail Performance (by Note)</a:t>
            </a:r>
            <a:endParaRPr 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6007585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E5E5E">
                  <a:lumMod val="60000"/>
                  <a:lumOff val="40000"/>
                </a:srgbClr>
              </a:solidFill>
              <a:effectLst/>
              <a:uLnTx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2025.10.20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271104" y="1716000"/>
          <a:ext cx="5854999" cy="51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213"/>
                <a:gridCol w="506423"/>
                <a:gridCol w="685160"/>
                <a:gridCol w="685160"/>
                <a:gridCol w="536213"/>
                <a:gridCol w="642915"/>
                <a:gridCol w="576000"/>
                <a:gridCol w="642915"/>
                <a:gridCol w="1044000"/>
              </a:tblGrid>
              <a:tr h="4457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 Link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链接</a:t>
                      </a:r>
                      <a:endParaRPr lang="en-US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Store Code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所属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账号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Cost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投放消耗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Engagement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笔记互动量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CPE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互动成本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Inquires Received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私信开口数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成本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笔记内容总结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Eddie Yuan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317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53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视频讲解与多场景穿搭展示，突出增高显瘦。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2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Eddie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229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新品速递，直观展现产品亮点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3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Jessica Zhang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多角度实拍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口语化表达，引导用户互动选择。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4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Bonnie Luo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23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直观视觉呈现，包袋收纳与品牌感。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5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Kern 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177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纯粹商品视觉展示，缺乏具体描述。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6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Adeline Lei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177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177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真人试穿大牌新品，视觉直观呈现休闲穿搭。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7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Sylvia Ma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171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171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直接展示产品特性与搭配场景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8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Gold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158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多款德训鞋上脚展示，视觉冲击力强。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9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Summer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潮流穿搭实测，兼顾风度与温度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0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Summer Wang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114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114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简约实物展示，搭配日常穿搭。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/>
        </p:nvGraphicFramePr>
        <p:xfrm>
          <a:off x="6195654" y="1716000"/>
          <a:ext cx="5854999" cy="51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213"/>
                <a:gridCol w="506423"/>
                <a:gridCol w="685160"/>
                <a:gridCol w="685160"/>
                <a:gridCol w="536213"/>
                <a:gridCol w="642915"/>
                <a:gridCol w="576000"/>
                <a:gridCol w="642915"/>
                <a:gridCol w="1044000"/>
              </a:tblGrid>
              <a:tr h="4457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 Link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链接</a:t>
                      </a:r>
                      <a:endParaRPr lang="en-US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Store Code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所属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账号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Cost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投放消耗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Engagement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笔记互动量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CPE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互动成本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Inquires Received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私信开口数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成本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笔记内容总结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1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Nikki Ke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112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112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秀场视角，聚焦解构设计感鞋款细节。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2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Vanna Xue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105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105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新品试穿分享，细节特写，风格休闲。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3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Adeline Lei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品牌混搭日常穿搭，镜面自拍展示。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4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Amy Fan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多场景上身，细节亮点突出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5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Gold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67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对比穿搭展示，细节特写。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6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Eddie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66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动态穿搭展示，激发用户互动选色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7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Amy Fan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视频实物展示，多色细节种草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8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Ella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秋日慵懒风穿搭分享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9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Ella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多色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Tabi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靴展示，视觉精致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20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Kern Ding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48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1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1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1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1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1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1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3" name="ID_2EE0975AA08E4B29B52A4C7B84D50FE8"/>
          <p:cNvPicPr>
            <a:picLocks noChangeAspect="1"/>
          </p:cNvPicPr>
          <p:nvPr/>
        </p:nvPicPr>
        <p:blipFill>
          <a:blip r:embed="rId21" cstate="print"/>
          <a:srcRect/>
          <a:stretch>
            <a:fillRect/>
          </a:stretch>
        </p:blipFill>
        <p:spPr>
          <a:xfrm>
            <a:off x="403860" y="2359977"/>
            <a:ext cx="221615" cy="295910"/>
          </a:xfrm>
          <a:prstGeom prst="rect">
            <a:avLst/>
          </a:prstGeom>
        </p:spPr>
      </p:pic>
      <p:pic>
        <p:nvPicPr>
          <p:cNvPr id="4" name="ID_F4D83A471C98457C9A79BBE51FDCA3C3"/>
          <p:cNvPicPr>
            <a:picLocks noChangeAspect="1"/>
          </p:cNvPicPr>
          <p:nvPr/>
        </p:nvPicPr>
        <p:blipFill>
          <a:blip r:embed="rId22" cstate="print"/>
          <a:srcRect/>
          <a:stretch>
            <a:fillRect/>
          </a:stretch>
        </p:blipFill>
        <p:spPr>
          <a:xfrm>
            <a:off x="403860" y="2770893"/>
            <a:ext cx="221615" cy="296545"/>
          </a:xfrm>
          <a:prstGeom prst="rect">
            <a:avLst/>
          </a:prstGeom>
        </p:spPr>
      </p:pic>
      <p:pic>
        <p:nvPicPr>
          <p:cNvPr id="29" name="ID_AE30C038ABAF4012B1E04E62EB44A5AF"/>
          <p:cNvPicPr>
            <a:picLocks noChangeAspect="1"/>
          </p:cNvPicPr>
          <p:nvPr/>
        </p:nvPicPr>
        <p:blipFill>
          <a:blip r:embed="rId23" cstate="print"/>
          <a:srcRect/>
          <a:stretch>
            <a:fillRect/>
          </a:stretch>
        </p:blipFill>
        <p:spPr>
          <a:xfrm>
            <a:off x="403225" y="3182444"/>
            <a:ext cx="222250" cy="296545"/>
          </a:xfrm>
          <a:prstGeom prst="rect">
            <a:avLst/>
          </a:prstGeom>
        </p:spPr>
      </p:pic>
      <p:pic>
        <p:nvPicPr>
          <p:cNvPr id="30" name="ID_6E65AFF13C9148AE8EB2AC8AA3CEA694"/>
          <p:cNvPicPr>
            <a:picLocks noChangeAspect="1"/>
          </p:cNvPicPr>
          <p:nvPr/>
        </p:nvPicPr>
        <p:blipFill>
          <a:blip r:embed="rId24" cstate="print"/>
          <a:srcRect/>
          <a:stretch>
            <a:fillRect/>
          </a:stretch>
        </p:blipFill>
        <p:spPr>
          <a:xfrm>
            <a:off x="403860" y="3593995"/>
            <a:ext cx="221615" cy="296545"/>
          </a:xfrm>
          <a:prstGeom prst="rect">
            <a:avLst/>
          </a:prstGeom>
        </p:spPr>
      </p:pic>
      <p:pic>
        <p:nvPicPr>
          <p:cNvPr id="31" name="ID_D57C13AE09434E2CA3A9BB890CC6BDDD"/>
          <p:cNvPicPr>
            <a:picLocks noChangeAspect="1"/>
          </p:cNvPicPr>
          <p:nvPr/>
        </p:nvPicPr>
        <p:blipFill>
          <a:blip r:embed="rId25" cstate="print"/>
          <a:srcRect/>
          <a:stretch>
            <a:fillRect/>
          </a:stretch>
        </p:blipFill>
        <p:spPr>
          <a:xfrm>
            <a:off x="403860" y="4005546"/>
            <a:ext cx="221615" cy="295910"/>
          </a:xfrm>
          <a:prstGeom prst="rect">
            <a:avLst/>
          </a:prstGeom>
        </p:spPr>
      </p:pic>
      <p:pic>
        <p:nvPicPr>
          <p:cNvPr id="32" name="ID_28C9C5AC3E1246B7AB600D79D95622A1"/>
          <p:cNvPicPr>
            <a:picLocks noChangeAspect="1"/>
          </p:cNvPicPr>
          <p:nvPr/>
        </p:nvPicPr>
        <p:blipFill>
          <a:blip r:embed="rId26" cstate="print"/>
          <a:srcRect/>
          <a:stretch>
            <a:fillRect/>
          </a:stretch>
        </p:blipFill>
        <p:spPr>
          <a:xfrm>
            <a:off x="415925" y="4416462"/>
            <a:ext cx="197485" cy="296545"/>
          </a:xfrm>
          <a:prstGeom prst="rect">
            <a:avLst/>
          </a:prstGeom>
        </p:spPr>
      </p:pic>
      <p:pic>
        <p:nvPicPr>
          <p:cNvPr id="33" name="ID_7A508CDF642D48F0A37F274CA0F27C5C"/>
          <p:cNvPicPr>
            <a:picLocks noChangeAspect="1"/>
          </p:cNvPicPr>
          <p:nvPr/>
        </p:nvPicPr>
        <p:blipFill>
          <a:blip r:embed="rId27" cstate="print"/>
          <a:srcRect/>
          <a:stretch>
            <a:fillRect/>
          </a:stretch>
        </p:blipFill>
        <p:spPr>
          <a:xfrm>
            <a:off x="403225" y="4828013"/>
            <a:ext cx="222250" cy="296545"/>
          </a:xfrm>
          <a:prstGeom prst="rect">
            <a:avLst/>
          </a:prstGeom>
        </p:spPr>
      </p:pic>
      <p:pic>
        <p:nvPicPr>
          <p:cNvPr id="34" name="ID_C106DCF19CC0451581ABD17172071CBC"/>
          <p:cNvPicPr>
            <a:picLocks noChangeAspect="1"/>
          </p:cNvPicPr>
          <p:nvPr/>
        </p:nvPicPr>
        <p:blipFill>
          <a:blip r:embed="rId28" cstate="print"/>
          <a:srcRect/>
          <a:stretch>
            <a:fillRect/>
          </a:stretch>
        </p:blipFill>
        <p:spPr>
          <a:xfrm>
            <a:off x="366395" y="5239564"/>
            <a:ext cx="295910" cy="296545"/>
          </a:xfrm>
          <a:prstGeom prst="rect">
            <a:avLst/>
          </a:prstGeom>
        </p:spPr>
      </p:pic>
      <p:pic>
        <p:nvPicPr>
          <p:cNvPr id="35" name="ID_07E2B8794D7F4473AEBA5EF4109D018A"/>
          <p:cNvPicPr>
            <a:picLocks noChangeAspect="1"/>
          </p:cNvPicPr>
          <p:nvPr/>
        </p:nvPicPr>
        <p:blipFill>
          <a:blip r:embed="rId29" cstate="print"/>
          <a:srcRect/>
          <a:stretch>
            <a:fillRect/>
          </a:stretch>
        </p:blipFill>
        <p:spPr>
          <a:xfrm>
            <a:off x="405765" y="5651115"/>
            <a:ext cx="217170" cy="295910"/>
          </a:xfrm>
          <a:prstGeom prst="rect">
            <a:avLst/>
          </a:prstGeom>
        </p:spPr>
      </p:pic>
      <p:pic>
        <p:nvPicPr>
          <p:cNvPr id="36" name="ID_88D0591253E54E3381C8EE597E04D41E"/>
          <p:cNvPicPr>
            <a:picLocks noChangeAspect="1"/>
          </p:cNvPicPr>
          <p:nvPr/>
        </p:nvPicPr>
        <p:blipFill>
          <a:blip r:embed="rId30" cstate="print"/>
          <a:srcRect/>
          <a:stretch>
            <a:fillRect/>
          </a:stretch>
        </p:blipFill>
        <p:spPr>
          <a:xfrm>
            <a:off x="403225" y="6062027"/>
            <a:ext cx="222250" cy="296545"/>
          </a:xfrm>
          <a:prstGeom prst="rect">
            <a:avLst/>
          </a:prstGeom>
        </p:spPr>
      </p:pic>
      <p:pic>
        <p:nvPicPr>
          <p:cNvPr id="37" name="ID_93FA1AADAF844EE59E21832EA4641B26"/>
          <p:cNvPicPr>
            <a:picLocks noChangeAspect="1"/>
          </p:cNvPicPr>
          <p:nvPr/>
        </p:nvPicPr>
        <p:blipFill>
          <a:blip r:embed="rId31" cstate="print"/>
          <a:srcRect/>
          <a:stretch>
            <a:fillRect/>
          </a:stretch>
        </p:blipFill>
        <p:spPr>
          <a:xfrm>
            <a:off x="6347460" y="2347278"/>
            <a:ext cx="221615" cy="296545"/>
          </a:xfrm>
          <a:prstGeom prst="rect">
            <a:avLst/>
          </a:prstGeom>
        </p:spPr>
      </p:pic>
      <p:pic>
        <p:nvPicPr>
          <p:cNvPr id="38" name="ID_AC23AB1A6B7446E785ACCFC331A95294"/>
          <p:cNvPicPr>
            <a:picLocks noChangeAspect="1"/>
          </p:cNvPicPr>
          <p:nvPr/>
        </p:nvPicPr>
        <p:blipFill>
          <a:blip r:embed="rId32" cstate="print"/>
          <a:srcRect/>
          <a:stretch>
            <a:fillRect/>
          </a:stretch>
        </p:blipFill>
        <p:spPr>
          <a:xfrm>
            <a:off x="6346825" y="2764473"/>
            <a:ext cx="222250" cy="296545"/>
          </a:xfrm>
          <a:prstGeom prst="rect">
            <a:avLst/>
          </a:prstGeom>
        </p:spPr>
      </p:pic>
      <p:pic>
        <p:nvPicPr>
          <p:cNvPr id="39" name="ID_C38F0463849B459C9DF25A07DCD72F83"/>
          <p:cNvPicPr>
            <a:picLocks noChangeAspect="1"/>
          </p:cNvPicPr>
          <p:nvPr/>
        </p:nvPicPr>
        <p:blipFill>
          <a:blip r:embed="rId33" cstate="print"/>
          <a:srcRect/>
          <a:stretch>
            <a:fillRect/>
          </a:stretch>
        </p:blipFill>
        <p:spPr>
          <a:xfrm>
            <a:off x="6359525" y="3181668"/>
            <a:ext cx="196850" cy="295910"/>
          </a:xfrm>
          <a:prstGeom prst="rect">
            <a:avLst/>
          </a:prstGeom>
        </p:spPr>
      </p:pic>
      <p:pic>
        <p:nvPicPr>
          <p:cNvPr id="40" name="ID_49DF80A9FB7E45D29BF0B0300A4D76F6"/>
          <p:cNvPicPr>
            <a:picLocks noChangeAspect="1"/>
          </p:cNvPicPr>
          <p:nvPr/>
        </p:nvPicPr>
        <p:blipFill>
          <a:blip r:embed="rId34" cstate="print"/>
          <a:srcRect/>
          <a:stretch>
            <a:fillRect/>
          </a:stretch>
        </p:blipFill>
        <p:spPr>
          <a:xfrm>
            <a:off x="6347460" y="3598228"/>
            <a:ext cx="221615" cy="296545"/>
          </a:xfrm>
          <a:prstGeom prst="rect">
            <a:avLst/>
          </a:prstGeom>
        </p:spPr>
      </p:pic>
      <p:pic>
        <p:nvPicPr>
          <p:cNvPr id="41" name="ID_39A40E9DEF934CCAA204625A5122FBFE"/>
          <p:cNvPicPr>
            <a:picLocks noChangeAspect="1"/>
          </p:cNvPicPr>
          <p:nvPr/>
        </p:nvPicPr>
        <p:blipFill>
          <a:blip r:embed="rId35" cstate="print"/>
          <a:srcRect/>
          <a:stretch>
            <a:fillRect/>
          </a:stretch>
        </p:blipFill>
        <p:spPr>
          <a:xfrm>
            <a:off x="6346825" y="4015423"/>
            <a:ext cx="222250" cy="296545"/>
          </a:xfrm>
          <a:prstGeom prst="rect">
            <a:avLst/>
          </a:prstGeom>
        </p:spPr>
      </p:pic>
      <p:pic>
        <p:nvPicPr>
          <p:cNvPr id="42" name="ID_3617ACE45C9E417A8A6064B6C9E1A550"/>
          <p:cNvPicPr>
            <a:picLocks noChangeAspect="1"/>
          </p:cNvPicPr>
          <p:nvPr/>
        </p:nvPicPr>
        <p:blipFill>
          <a:blip r:embed="rId36" cstate="print"/>
          <a:srcRect/>
          <a:stretch>
            <a:fillRect/>
          </a:stretch>
        </p:blipFill>
        <p:spPr>
          <a:xfrm>
            <a:off x="6346825" y="4432618"/>
            <a:ext cx="222250" cy="296545"/>
          </a:xfrm>
          <a:prstGeom prst="rect">
            <a:avLst/>
          </a:prstGeom>
        </p:spPr>
      </p:pic>
      <p:pic>
        <p:nvPicPr>
          <p:cNvPr id="43" name="ID_D2B516D07C08448A828F3CEEB1BCFF1D"/>
          <p:cNvPicPr>
            <a:picLocks noChangeAspect="1"/>
          </p:cNvPicPr>
          <p:nvPr/>
        </p:nvPicPr>
        <p:blipFill>
          <a:blip r:embed="rId37" cstate="print"/>
          <a:srcRect/>
          <a:stretch>
            <a:fillRect/>
          </a:stretch>
        </p:blipFill>
        <p:spPr>
          <a:xfrm>
            <a:off x="6347460" y="4849813"/>
            <a:ext cx="221615" cy="295910"/>
          </a:xfrm>
          <a:prstGeom prst="rect">
            <a:avLst/>
          </a:prstGeom>
        </p:spPr>
      </p:pic>
      <p:pic>
        <p:nvPicPr>
          <p:cNvPr id="44" name="ID_447EDD60A3A041398629FE07A8931C48"/>
          <p:cNvPicPr>
            <a:picLocks noChangeAspect="1"/>
          </p:cNvPicPr>
          <p:nvPr/>
        </p:nvPicPr>
        <p:blipFill>
          <a:blip r:embed="rId38" cstate="print"/>
          <a:srcRect/>
          <a:stretch>
            <a:fillRect/>
          </a:stretch>
        </p:blipFill>
        <p:spPr>
          <a:xfrm>
            <a:off x="6375400" y="5266373"/>
            <a:ext cx="165735" cy="295910"/>
          </a:xfrm>
          <a:prstGeom prst="rect">
            <a:avLst/>
          </a:prstGeom>
        </p:spPr>
      </p:pic>
      <p:pic>
        <p:nvPicPr>
          <p:cNvPr id="45" name="ID_790F0351A1134F42955428C416D385DD"/>
          <p:cNvPicPr>
            <a:picLocks noChangeAspect="1"/>
          </p:cNvPicPr>
          <p:nvPr/>
        </p:nvPicPr>
        <p:blipFill>
          <a:blip r:embed="rId39" cstate="print"/>
          <a:srcRect/>
          <a:stretch>
            <a:fillRect/>
          </a:stretch>
        </p:blipFill>
        <p:spPr>
          <a:xfrm>
            <a:off x="6347460" y="5682933"/>
            <a:ext cx="221615" cy="296545"/>
          </a:xfrm>
          <a:prstGeom prst="rect">
            <a:avLst/>
          </a:prstGeom>
        </p:spPr>
      </p:pic>
      <p:pic>
        <p:nvPicPr>
          <p:cNvPr id="46" name="ID_F8F17A72F7B8471CB31FD868851455D6"/>
          <p:cNvPicPr>
            <a:picLocks noChangeAspect="1"/>
          </p:cNvPicPr>
          <p:nvPr/>
        </p:nvPicPr>
        <p:blipFill>
          <a:blip r:embed="rId40" cstate="print"/>
          <a:srcRect/>
          <a:stretch>
            <a:fillRect/>
          </a:stretch>
        </p:blipFill>
        <p:spPr>
          <a:xfrm>
            <a:off x="6346825" y="6100128"/>
            <a:ext cx="222250" cy="2965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pPr hangingPunct="1"/>
            <a:r>
              <a:rPr lang="en-US" altLang="zh-CN" dirty="0"/>
              <a:t>Retail Performance (by Note)</a:t>
            </a:r>
            <a:endParaRPr 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6007585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E5E5E">
                  <a:lumMod val="60000"/>
                  <a:lumOff val="40000"/>
                </a:srgbClr>
              </a:solidFill>
              <a:effectLst/>
              <a:uLnTx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2025.10.20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1744304" y="1724880"/>
          <a:ext cx="7330999" cy="51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213"/>
                <a:gridCol w="506423"/>
                <a:gridCol w="685160"/>
                <a:gridCol w="685160"/>
                <a:gridCol w="536213"/>
                <a:gridCol w="642915"/>
                <a:gridCol w="576000"/>
                <a:gridCol w="642915"/>
                <a:gridCol w="2520000"/>
              </a:tblGrid>
              <a:tr h="4457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 Link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链接</a:t>
                      </a:r>
                      <a:endParaRPr lang="en-US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Store Code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所属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账号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Cost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投放消耗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Engagement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笔记互动量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CPE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互动成本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Inquires Received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私信开口数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成本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笔记内容总结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Gold Wang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39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镜面自拍展示品牌秋冬穿搭，强调层次与复古感。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2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Bonnie Luo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36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36 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新款外套合集，简洁直观。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3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Vanna Xue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29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多色实物展示，直接互动引导选择。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4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Summer Wang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强调单品时尚力，穿搭场景化，视觉吸睛。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5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Vanna Xue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直观上身展示，强调功能实用性。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6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Nikki Ke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12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多角度动态展示新款包包的简约实用性</a:t>
                      </a: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7"/>
                        </a:rPr>
                        <a:t>Link</a:t>
                      </a: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Amy Fan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新款夹克实穿展示，材质细节讲解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8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Nikki Ke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鞋款直观展示，强调舒适与时尚兼具。</a:t>
                      </a:r>
                      <a:r>
                        <a:rPr lang="en-US" altLang="zh-CN" sz="8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3" name="ID_936F1C786D8F40BD97028C79FBF26C24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>
          <a:xfrm>
            <a:off x="1858962" y="2379345"/>
            <a:ext cx="295275" cy="295910"/>
          </a:xfrm>
          <a:prstGeom prst="rect">
            <a:avLst/>
          </a:prstGeom>
        </p:spPr>
      </p:pic>
      <p:pic>
        <p:nvPicPr>
          <p:cNvPr id="4" name="ID_D7E5804D69C145AD89E20BBAAF7C09CD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>
          <a:xfrm>
            <a:off x="1895792" y="2787106"/>
            <a:ext cx="221615" cy="295910"/>
          </a:xfrm>
          <a:prstGeom prst="rect">
            <a:avLst/>
          </a:prstGeom>
        </p:spPr>
      </p:pic>
      <p:pic>
        <p:nvPicPr>
          <p:cNvPr id="28" name="ID_76B52DB2F893401580D7FC0F184EEC59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>
          <a:xfrm>
            <a:off x="1895792" y="3194867"/>
            <a:ext cx="221615" cy="296545"/>
          </a:xfrm>
          <a:prstGeom prst="rect">
            <a:avLst/>
          </a:prstGeom>
        </p:spPr>
      </p:pic>
      <p:pic>
        <p:nvPicPr>
          <p:cNvPr id="29" name="ID_F3F8BACD64884524AFD43ED991C49B09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>
          <a:xfrm>
            <a:off x="1895792" y="3603263"/>
            <a:ext cx="221615" cy="296545"/>
          </a:xfrm>
          <a:prstGeom prst="rect">
            <a:avLst/>
          </a:prstGeom>
        </p:spPr>
      </p:pic>
      <p:pic>
        <p:nvPicPr>
          <p:cNvPr id="30" name="ID_573D30E5622343508F50571D958255D5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>
          <a:xfrm>
            <a:off x="1895792" y="4011659"/>
            <a:ext cx="221615" cy="296545"/>
          </a:xfrm>
          <a:prstGeom prst="rect">
            <a:avLst/>
          </a:prstGeom>
        </p:spPr>
      </p:pic>
      <p:pic>
        <p:nvPicPr>
          <p:cNvPr id="31" name="ID_79ABDC9F9A0240B1B6094ED4F9DD7C14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>
          <a:xfrm>
            <a:off x="1895792" y="4420055"/>
            <a:ext cx="220980" cy="295910"/>
          </a:xfrm>
          <a:prstGeom prst="rect">
            <a:avLst/>
          </a:prstGeom>
        </p:spPr>
      </p:pic>
      <p:pic>
        <p:nvPicPr>
          <p:cNvPr id="32" name="ID_2FD49F4F5F5F4943B9922FCAF56AA40E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>
          <a:xfrm>
            <a:off x="1895792" y="4827816"/>
            <a:ext cx="221615" cy="296545"/>
          </a:xfrm>
          <a:prstGeom prst="rect">
            <a:avLst/>
          </a:prstGeom>
        </p:spPr>
      </p:pic>
      <p:pic>
        <p:nvPicPr>
          <p:cNvPr id="33" name="ID_C3D2984A60434EC5A15FC9D6C148BBB3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>
          <a:xfrm>
            <a:off x="1923732" y="5236210"/>
            <a:ext cx="165735" cy="2965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grpSp>
        <p:nvGrpSpPr>
          <p:cNvPr id="5" name="Group 55"/>
          <p:cNvGrpSpPr/>
          <p:nvPr/>
        </p:nvGrpSpPr>
        <p:grpSpPr>
          <a:xfrm>
            <a:off x="7962839" y="1821059"/>
            <a:ext cx="1676189" cy="1123753"/>
            <a:chOff x="7465530" y="1884559"/>
            <a:chExt cx="1676189" cy="1123753"/>
          </a:xfrm>
        </p:grpSpPr>
        <p:sp>
          <p:nvSpPr>
            <p:cNvPr id="6" name="Freeform 20"/>
            <p:cNvSpPr/>
            <p:nvPr/>
          </p:nvSpPr>
          <p:spPr bwMode="auto">
            <a:xfrm>
              <a:off x="7465530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 dirty="0"/>
            </a:p>
          </p:txBody>
        </p:sp>
        <p:sp>
          <p:nvSpPr>
            <p:cNvPr id="7" name="TextBox 46"/>
            <p:cNvSpPr txBox="1"/>
            <p:nvPr/>
          </p:nvSpPr>
          <p:spPr>
            <a:xfrm>
              <a:off x="7578501" y="1942248"/>
              <a:ext cx="1061658" cy="434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825500"/>
              <a:r>
                <a:rPr lang="en-US" altLang="zh-CN" sz="900" dirty="0">
                  <a:latin typeface="FarnhamDisplay Regular"/>
                </a:rPr>
                <a:t>Engagement</a:t>
              </a:r>
              <a:endParaRPr lang="en-US" altLang="zh-CN" sz="900" dirty="0">
                <a:latin typeface="FarnhamDisplay Regular"/>
              </a:endParaRPr>
            </a:p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8" name="TextBox 47"/>
            <p:cNvSpPr txBox="1"/>
            <p:nvPr/>
          </p:nvSpPr>
          <p:spPr>
            <a:xfrm>
              <a:off x="7597960" y="2107775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笔记</a:t>
              </a:r>
              <a:r>
                <a:rPr lang="zh-CN" alt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总互动数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sp>
        <p:nvSpPr>
          <p:cNvPr id="9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Wholesale Dashboard</a:t>
            </a:r>
            <a:endParaRPr dirty="0"/>
          </a:p>
        </p:txBody>
      </p:sp>
      <p:grpSp>
        <p:nvGrpSpPr>
          <p:cNvPr id="10" name="Group 52"/>
          <p:cNvGrpSpPr/>
          <p:nvPr/>
        </p:nvGrpSpPr>
        <p:grpSpPr>
          <a:xfrm>
            <a:off x="2271307" y="1821059"/>
            <a:ext cx="1681825" cy="1123753"/>
            <a:chOff x="2041193" y="1884900"/>
            <a:chExt cx="1681825" cy="1123753"/>
          </a:xfrm>
        </p:grpSpPr>
        <p:sp>
          <p:nvSpPr>
            <p:cNvPr id="11" name="Freeform 20"/>
            <p:cNvSpPr/>
            <p:nvPr/>
          </p:nvSpPr>
          <p:spPr bwMode="auto">
            <a:xfrm>
              <a:off x="2041193" y="1884900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12" name="TextBox 36"/>
            <p:cNvSpPr txBox="1"/>
            <p:nvPr/>
          </p:nvSpPr>
          <p:spPr>
            <a:xfrm>
              <a:off x="2167227" y="1979968"/>
              <a:ext cx="1434688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Account </a:t>
              </a: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with </a:t>
              </a:r>
              <a:r>
                <a:rPr 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Paid</a:t>
              </a:r>
              <a:r>
                <a:rPr lang="zh-CN" alt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 </a:t>
              </a:r>
              <a:r>
                <a:rPr lang="en-US" altLang="zh-CN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Promo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13" name="TextBox 37"/>
            <p:cNvSpPr txBox="1"/>
            <p:nvPr/>
          </p:nvSpPr>
          <p:spPr>
            <a:xfrm>
              <a:off x="2173623" y="2108116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投广账号总数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4170363" y="1821059"/>
            <a:ext cx="1681825" cy="1123753"/>
            <a:chOff x="3855448" y="1884559"/>
            <a:chExt cx="1681825" cy="1123753"/>
          </a:xfrm>
        </p:grpSpPr>
        <p:sp>
          <p:nvSpPr>
            <p:cNvPr id="15" name="Freeform 20"/>
            <p:cNvSpPr/>
            <p:nvPr/>
          </p:nvSpPr>
          <p:spPr bwMode="auto">
            <a:xfrm>
              <a:off x="3855448" y="1884559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16" name="TextBox 39"/>
            <p:cNvSpPr txBox="1"/>
            <p:nvPr/>
          </p:nvSpPr>
          <p:spPr>
            <a:xfrm>
              <a:off x="3981482" y="1979627"/>
              <a:ext cx="944169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Notes Published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17" name="TextBox 40"/>
            <p:cNvSpPr txBox="1"/>
            <p:nvPr/>
          </p:nvSpPr>
          <p:spPr>
            <a:xfrm>
              <a:off x="3987878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发布笔记数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18" name="Group 54"/>
          <p:cNvGrpSpPr/>
          <p:nvPr/>
        </p:nvGrpSpPr>
        <p:grpSpPr>
          <a:xfrm>
            <a:off x="6069419" y="1821059"/>
            <a:ext cx="1676189" cy="1123753"/>
            <a:chOff x="5663307" y="1884559"/>
            <a:chExt cx="1676189" cy="1123753"/>
          </a:xfrm>
        </p:grpSpPr>
        <p:sp>
          <p:nvSpPr>
            <p:cNvPr id="19" name="Freeform 20"/>
            <p:cNvSpPr/>
            <p:nvPr/>
          </p:nvSpPr>
          <p:spPr bwMode="auto">
            <a:xfrm>
              <a:off x="5663307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20" name="TextBox 43"/>
            <p:cNvSpPr txBox="1"/>
            <p:nvPr/>
          </p:nvSpPr>
          <p:spPr>
            <a:xfrm>
              <a:off x="5789341" y="1979627"/>
              <a:ext cx="1296830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Notes with Paid Promo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21" name="TextBox 44"/>
            <p:cNvSpPr txBox="1"/>
            <p:nvPr/>
          </p:nvSpPr>
          <p:spPr>
            <a:xfrm>
              <a:off x="5795737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投广笔记数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22" name="Group 345"/>
          <p:cNvGrpSpPr/>
          <p:nvPr/>
        </p:nvGrpSpPr>
        <p:grpSpPr>
          <a:xfrm>
            <a:off x="2263637" y="3103380"/>
            <a:ext cx="1681825" cy="1123753"/>
            <a:chOff x="2041193" y="1884900"/>
            <a:chExt cx="1681825" cy="1123753"/>
          </a:xfrm>
        </p:grpSpPr>
        <p:sp>
          <p:nvSpPr>
            <p:cNvPr id="23" name="Freeform 20"/>
            <p:cNvSpPr/>
            <p:nvPr/>
          </p:nvSpPr>
          <p:spPr bwMode="auto">
            <a:xfrm>
              <a:off x="2041193" y="1884900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TextBox 347"/>
            <p:cNvSpPr txBox="1"/>
            <p:nvPr/>
          </p:nvSpPr>
          <p:spPr>
            <a:xfrm>
              <a:off x="2167227" y="1979968"/>
              <a:ext cx="1062791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Inquiries Received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25" name="TextBox 348"/>
            <p:cNvSpPr txBox="1"/>
            <p:nvPr/>
          </p:nvSpPr>
          <p:spPr>
            <a:xfrm>
              <a:off x="2173623" y="2108116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私信开口数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26" name="Group 353"/>
          <p:cNvGrpSpPr/>
          <p:nvPr/>
        </p:nvGrpSpPr>
        <p:grpSpPr>
          <a:xfrm>
            <a:off x="4156749" y="3103380"/>
            <a:ext cx="1676189" cy="1123753"/>
            <a:chOff x="5663307" y="1884559"/>
            <a:chExt cx="1676189" cy="1123753"/>
          </a:xfrm>
        </p:grpSpPr>
        <p:sp>
          <p:nvSpPr>
            <p:cNvPr id="27" name="Freeform 20"/>
            <p:cNvSpPr/>
            <p:nvPr/>
          </p:nvSpPr>
          <p:spPr bwMode="auto">
            <a:xfrm>
              <a:off x="5663307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TextBox 355"/>
            <p:cNvSpPr txBox="1"/>
            <p:nvPr/>
          </p:nvSpPr>
          <p:spPr>
            <a:xfrm>
              <a:off x="5789341" y="1979627"/>
              <a:ext cx="1194238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WeCom Recruitment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29" name="TextBox 356"/>
            <p:cNvSpPr txBox="1"/>
            <p:nvPr/>
          </p:nvSpPr>
          <p:spPr>
            <a:xfrm>
              <a:off x="5795737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企微留资数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aphicFrame>
        <p:nvGraphicFramePr>
          <p:cNvPr id="30" name="Table 366"/>
          <p:cNvGraphicFramePr>
            <a:graphicFrameLocks noGrp="1"/>
          </p:cNvGraphicFramePr>
          <p:nvPr/>
        </p:nvGraphicFramePr>
        <p:xfrm>
          <a:off x="509043" y="4643966"/>
          <a:ext cx="11208890" cy="1934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270"/>
                <a:gridCol w="1601270"/>
                <a:gridCol w="1601270"/>
                <a:gridCol w="1601270"/>
                <a:gridCol w="1601270"/>
                <a:gridCol w="1601270"/>
                <a:gridCol w="1601270"/>
              </a:tblGrid>
              <a:tr h="36543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Store Code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所属店铺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Notes Published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发布笔记数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Engagement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笔记互动量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Inquires Received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solidFill>
                            <a:schemeClr val="tx1"/>
                          </a:solidFill>
                          <a:latin typeface="FarnhamDisplay Regular" panose="02000503080000020004" pitchFamily="2" charset="77"/>
                        </a:rPr>
                        <a:t>私信开口数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WeCom Recruitment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企微留资数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Turnover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期间成交量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Allo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</a:t>
                      </a: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MixC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Rick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</a:t>
                      </a: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MixC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FarnhamDisplay Regular"/>
                          <a:ea typeface="+mj-ea"/>
                          <a:sym typeface="FarnhamDisplay Regular"/>
                        </a:rPr>
                        <a:t>-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uLnTx/>
                        <a:uFillTx/>
                        <a:latin typeface="FarnhamDisplay Regular"/>
                        <a:ea typeface="+mj-ea"/>
                        <a:sym typeface="FarnhamDisplay Regular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FarnhamDisplay Regular"/>
                          <a:ea typeface="+mj-ea"/>
                          <a:sym typeface="FarnhamDisplay Regular"/>
                        </a:rPr>
                        <a:t>-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uLnTx/>
                        <a:uFillTx/>
                        <a:latin typeface="FarnhamDisplay Regular"/>
                        <a:ea typeface="+mj-ea"/>
                        <a:sym typeface="FarnhamDisplay Regular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23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Yoyo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</a:t>
                      </a: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MixC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FarnhamDisplay Regular"/>
                          <a:ea typeface="+mj-ea"/>
                          <a:sym typeface="FarnhamDisplay Regular"/>
                        </a:rPr>
                        <a:t>-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uLnTx/>
                        <a:uFillTx/>
                        <a:latin typeface="FarnhamDisplay Regular"/>
                        <a:ea typeface="+mj-ea"/>
                        <a:sym typeface="FarnhamDisplay Regular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FarnhamDisplay Regular"/>
                          <a:ea typeface="+mj-ea"/>
                          <a:sym typeface="FarnhamDisplay Regular"/>
                        </a:rPr>
                        <a:t>-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91919"/>
                        </a:solidFill>
                        <a:effectLst/>
                        <a:uLnTx/>
                        <a:uFillTx/>
                        <a:latin typeface="FarnhamDisplay Regular"/>
                        <a:ea typeface="+mj-ea"/>
                        <a:sym typeface="FarnhamDisplay Regular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1" name="TextBox 369"/>
          <p:cNvSpPr txBox="1"/>
          <p:nvPr/>
        </p:nvSpPr>
        <p:spPr>
          <a:xfrm>
            <a:off x="4100041" y="1164694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u="none" strike="noStrike" cap="none" spc="0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u="none" strike="noStrike" cap="none" spc="0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2025.10.20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sp>
        <p:nvSpPr>
          <p:cNvPr id="32" name="TextBox 372"/>
          <p:cNvSpPr txBox="1"/>
          <p:nvPr/>
        </p:nvSpPr>
        <p:spPr>
          <a:xfrm>
            <a:off x="474067" y="4545737"/>
            <a:ext cx="844783" cy="305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Weekly Top</a:t>
            </a:r>
            <a:r>
              <a:rPr kumimoji="0" lang="zh-CN" altLang="en-U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 </a:t>
            </a:r>
            <a:r>
              <a:rPr kumimoji="0" lang="en-US" altLang="zh-CN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LightItal" panose="02000503070000020004" pitchFamily="2" charset="77"/>
                <a:sym typeface="Graphik"/>
              </a:rPr>
              <a:t>3</a:t>
            </a:r>
            <a:endParaRPr kumimoji="0" lang="en-US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LightItal" panose="02000503070000020004" pitchFamily="2" charset="77"/>
              <a:sym typeface="Graphik"/>
            </a:endParaRPr>
          </a:p>
        </p:txBody>
      </p:sp>
      <p:sp>
        <p:nvSpPr>
          <p:cNvPr id="33" name="TextBox 5"/>
          <p:cNvSpPr txBox="1"/>
          <p:nvPr/>
        </p:nvSpPr>
        <p:spPr>
          <a:xfrm>
            <a:off x="1671220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1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34" name="TextBox 5"/>
          <p:cNvSpPr txBox="1"/>
          <p:nvPr/>
        </p:nvSpPr>
        <p:spPr>
          <a:xfrm>
            <a:off x="5564013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3</a:t>
            </a:r>
            <a:endParaRPr lang="en-US" sz="2800" b="1" dirty="0">
              <a:latin typeface="FarnhamDisplay Regular"/>
            </a:endParaRPr>
          </a:p>
        </p:txBody>
      </p:sp>
      <p:grpSp>
        <p:nvGrpSpPr>
          <p:cNvPr id="35" name="Group 340"/>
          <p:cNvGrpSpPr/>
          <p:nvPr/>
        </p:nvGrpSpPr>
        <p:grpSpPr>
          <a:xfrm>
            <a:off x="364581" y="3103380"/>
            <a:ext cx="1681825" cy="1123753"/>
            <a:chOff x="233334" y="1884559"/>
            <a:chExt cx="1681825" cy="1123753"/>
          </a:xfrm>
        </p:grpSpPr>
        <p:sp>
          <p:nvSpPr>
            <p:cNvPr id="36" name="Freeform 20"/>
            <p:cNvSpPr/>
            <p:nvPr/>
          </p:nvSpPr>
          <p:spPr bwMode="auto">
            <a:xfrm>
              <a:off x="233334" y="1884559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TextBox 343"/>
            <p:cNvSpPr txBox="1"/>
            <p:nvPr/>
          </p:nvSpPr>
          <p:spPr>
            <a:xfrm>
              <a:off x="383432" y="1979627"/>
              <a:ext cx="865622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Chats Initiated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38" name="TextBox 344"/>
            <p:cNvSpPr txBox="1"/>
            <p:nvPr/>
          </p:nvSpPr>
          <p:spPr>
            <a:xfrm>
              <a:off x="377796" y="2107775"/>
              <a:ext cx="615553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私信进线数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sp>
        <p:nvSpPr>
          <p:cNvPr id="39" name="TextBox 5"/>
          <p:cNvSpPr txBox="1"/>
          <p:nvPr/>
        </p:nvSpPr>
        <p:spPr>
          <a:xfrm>
            <a:off x="489993" y="3555839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b="1" dirty="0">
                <a:latin typeface="FarnhamDisplay Regular"/>
              </a:rPr>
              <a:t>232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40" name="TextBox 5"/>
          <p:cNvSpPr txBox="1"/>
          <p:nvPr/>
        </p:nvSpPr>
        <p:spPr>
          <a:xfrm>
            <a:off x="1955519" y="3568539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219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41" name="TextBox 5"/>
          <p:cNvSpPr txBox="1"/>
          <p:nvPr/>
        </p:nvSpPr>
        <p:spPr>
          <a:xfrm>
            <a:off x="3642227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60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42" name="Freeform 20"/>
          <p:cNvSpPr/>
          <p:nvPr/>
        </p:nvSpPr>
        <p:spPr bwMode="auto">
          <a:xfrm>
            <a:off x="9886695" y="3112179"/>
            <a:ext cx="1924263" cy="1123753"/>
          </a:xfrm>
          <a:prstGeom prst="roundRect">
            <a:avLst>
              <a:gd name="adj" fmla="val 8906"/>
            </a:avLst>
          </a:prstGeom>
          <a:solidFill>
            <a:schemeClr val="accent5">
              <a:lumMod val="40000"/>
              <a:lumOff val="60000"/>
            </a:schemeClr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en-US" sz="3200"/>
          </a:p>
        </p:txBody>
      </p:sp>
      <p:grpSp>
        <p:nvGrpSpPr>
          <p:cNvPr id="43" name="Group 10"/>
          <p:cNvGrpSpPr/>
          <p:nvPr/>
        </p:nvGrpSpPr>
        <p:grpSpPr>
          <a:xfrm>
            <a:off x="6050169" y="3103380"/>
            <a:ext cx="1832113" cy="1123753"/>
            <a:chOff x="7465530" y="1884559"/>
            <a:chExt cx="1832113" cy="1123753"/>
          </a:xfrm>
        </p:grpSpPr>
        <p:sp>
          <p:nvSpPr>
            <p:cNvPr id="44" name="Freeform 20"/>
            <p:cNvSpPr/>
            <p:nvPr/>
          </p:nvSpPr>
          <p:spPr bwMode="auto">
            <a:xfrm>
              <a:off x="7465530" y="1884559"/>
              <a:ext cx="1676189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45" name="TextBox 12"/>
            <p:cNvSpPr txBox="1"/>
            <p:nvPr/>
          </p:nvSpPr>
          <p:spPr>
            <a:xfrm>
              <a:off x="7603268" y="1979627"/>
              <a:ext cx="1694375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WeCom Recruiment Efficiency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46" name="TextBox 13"/>
            <p:cNvSpPr txBox="1"/>
            <p:nvPr/>
          </p:nvSpPr>
          <p:spPr>
            <a:xfrm>
              <a:off x="7617140" y="2107229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企微招募效率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grpSp>
        <p:nvGrpSpPr>
          <p:cNvPr id="47" name="Group 14"/>
          <p:cNvGrpSpPr/>
          <p:nvPr/>
        </p:nvGrpSpPr>
        <p:grpSpPr>
          <a:xfrm>
            <a:off x="7973636" y="3103380"/>
            <a:ext cx="1665392" cy="1123753"/>
            <a:chOff x="9274149" y="1884559"/>
            <a:chExt cx="1932322" cy="1123753"/>
          </a:xfrm>
        </p:grpSpPr>
        <p:sp>
          <p:nvSpPr>
            <p:cNvPr id="48" name="Freeform 20"/>
            <p:cNvSpPr/>
            <p:nvPr/>
          </p:nvSpPr>
          <p:spPr bwMode="auto">
            <a:xfrm>
              <a:off x="9274149" y="1884559"/>
              <a:ext cx="1932322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49" name="TextBox 16"/>
            <p:cNvSpPr txBox="1"/>
            <p:nvPr/>
          </p:nvSpPr>
          <p:spPr>
            <a:xfrm>
              <a:off x="9400183" y="1979627"/>
              <a:ext cx="1540486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CPR </a:t>
              </a:r>
              <a:r>
                <a:rPr lang="en-US" sz="900" dirty="0">
                  <a:latin typeface="FarnhamDisplay Regular" panose="02000503080000020004" pitchFamily="2" charset="77"/>
                  <a:cs typeface="Farah" panose="00000400000000000000" pitchFamily="2" charset="-78"/>
                </a:rPr>
                <a:t>(Cost per Recruitment)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50" name="TextBox 17"/>
            <p:cNvSpPr txBox="1"/>
            <p:nvPr/>
          </p:nvSpPr>
          <p:spPr>
            <a:xfrm>
              <a:off x="9406579" y="2107775"/>
              <a:ext cx="718145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PingFang HK" panose="020B0400000000000000" pitchFamily="34" charset="-120"/>
                  <a:ea typeface="PingFang HK" panose="020B0400000000000000" pitchFamily="34" charset="-120"/>
                  <a:sym typeface="Graphik"/>
                </a:rPr>
                <a:t>企微留资成本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sp>
        <p:nvSpPr>
          <p:cNvPr id="51" name="TextBox 18"/>
          <p:cNvSpPr txBox="1"/>
          <p:nvPr/>
        </p:nvSpPr>
        <p:spPr>
          <a:xfrm>
            <a:off x="10017263" y="3198448"/>
            <a:ext cx="613951" cy="2687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b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rPr>
              <a:t>Turnover</a:t>
            </a:r>
            <a:endParaRPr kumimoji="0" lang="en-US" sz="900" b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arnhamDisplay Regular" panose="02000503080000020004" pitchFamily="2" charset="77"/>
              <a:cs typeface="Farah" panose="00000400000000000000" pitchFamily="2" charset="-78"/>
              <a:sym typeface="Graphik"/>
            </a:endParaRPr>
          </a:p>
        </p:txBody>
      </p:sp>
      <p:sp>
        <p:nvSpPr>
          <p:cNvPr id="52" name="TextBox 19"/>
          <p:cNvSpPr txBox="1"/>
          <p:nvPr/>
        </p:nvSpPr>
        <p:spPr>
          <a:xfrm>
            <a:off x="10023659" y="3326596"/>
            <a:ext cx="615553" cy="25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rPr>
              <a:t>期间成交量</a:t>
            </a:r>
            <a:endParaRPr kumimoji="0" lang="en-US" sz="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PingFang HK" panose="020B0400000000000000" pitchFamily="34" charset="-120"/>
              <a:ea typeface="PingFang HK" panose="020B0400000000000000" pitchFamily="34" charset="-120"/>
              <a:sym typeface="Graphik"/>
            </a:endParaRPr>
          </a:p>
        </p:txBody>
      </p:sp>
      <p:sp>
        <p:nvSpPr>
          <p:cNvPr id="53" name="TextBox 5"/>
          <p:cNvSpPr txBox="1"/>
          <p:nvPr/>
        </p:nvSpPr>
        <p:spPr>
          <a:xfrm>
            <a:off x="9423955" y="3566786"/>
            <a:ext cx="1831719" cy="53403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￥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cs typeface="+mj-lt"/>
              </a:rPr>
              <a:t>-</a:t>
            </a:r>
            <a:endParaRPr lang="en-US" sz="2400" b="1" dirty="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54" name="TextBox 5"/>
          <p:cNvSpPr txBox="1"/>
          <p:nvPr/>
        </p:nvSpPr>
        <p:spPr>
          <a:xfrm>
            <a:off x="3572188" y="358782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FarnhamDisplay Regular"/>
              </a:rPr>
              <a:t>-</a:t>
            </a:r>
            <a:endParaRPr lang="en-US" sz="2800" b="1" dirty="0">
              <a:solidFill>
                <a:schemeClr val="tx1"/>
              </a:solidFill>
              <a:latin typeface="FarnhamDisplay Regular"/>
            </a:endParaRPr>
          </a:p>
        </p:txBody>
      </p:sp>
      <p:sp>
        <p:nvSpPr>
          <p:cNvPr id="55" name="TextBox 5"/>
          <p:cNvSpPr txBox="1"/>
          <p:nvPr/>
        </p:nvSpPr>
        <p:spPr>
          <a:xfrm>
            <a:off x="7466087" y="3589617"/>
            <a:ext cx="1831719" cy="5042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￥</a:t>
            </a:r>
            <a:r>
              <a:rPr lang="en-US" altLang="zh-CN" sz="2400" b="1" dirty="0">
                <a:solidFill>
                  <a:schemeClr val="tx1"/>
                </a:solidFill>
                <a:latin typeface="FarnhamDisplay Regular" panose="02000503080000020004" pitchFamily="2" charset="77"/>
              </a:rPr>
              <a:t>-</a:t>
            </a:r>
            <a:endParaRPr lang="en-US" sz="2400" b="1" dirty="0">
              <a:solidFill>
                <a:schemeClr val="tx1"/>
              </a:solidFill>
              <a:latin typeface="FarnhamDisplay Regular" panose="02000503080000020004" pitchFamily="2" charset="77"/>
            </a:endParaRPr>
          </a:p>
        </p:txBody>
      </p:sp>
      <p:sp>
        <p:nvSpPr>
          <p:cNvPr id="56" name="TextBox 5"/>
          <p:cNvSpPr txBox="1"/>
          <p:nvPr/>
        </p:nvSpPr>
        <p:spPr>
          <a:xfrm>
            <a:off x="5623007" y="3568539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FarnhamDisplay Regular"/>
              </a:rPr>
              <a:t>-%</a:t>
            </a:r>
            <a:endParaRPr lang="en-US" sz="2800" b="1" dirty="0">
              <a:solidFill>
                <a:schemeClr val="tx1"/>
              </a:solidFill>
              <a:latin typeface="FarnhamDisplay Regular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886306" y="1821059"/>
            <a:ext cx="1932322" cy="1123753"/>
            <a:chOff x="9274149" y="1884559"/>
            <a:chExt cx="1932322" cy="1123753"/>
          </a:xfrm>
        </p:grpSpPr>
        <p:sp>
          <p:nvSpPr>
            <p:cNvPr id="58" name="Freeform 20"/>
            <p:cNvSpPr/>
            <p:nvPr/>
          </p:nvSpPr>
          <p:spPr bwMode="auto">
            <a:xfrm>
              <a:off x="9274149" y="1884559"/>
              <a:ext cx="1932322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59" name="TextBox 49"/>
            <p:cNvSpPr txBox="1"/>
            <p:nvPr/>
          </p:nvSpPr>
          <p:spPr>
            <a:xfrm>
              <a:off x="9400182" y="1979627"/>
              <a:ext cx="1744231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825500"/>
              <a:r>
                <a:rPr lang="en-US" altLang="zh-CN" sz="900" dirty="0">
                  <a:latin typeface="FarnhamDisplay Regular"/>
                </a:rPr>
                <a:t>Engagement</a:t>
              </a:r>
              <a:r>
                <a:rPr lang="en-US" altLang="zh-CN" sz="900" dirty="0">
                  <a:latin typeface="FarnhamDisplay Regular"/>
                </a:rPr>
                <a:t> </a:t>
              </a:r>
              <a:r>
                <a:rPr kumimoji="0" lang="en-US" altLang="zh-CN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from Paid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60" name="TextBox 50"/>
            <p:cNvSpPr txBox="1"/>
            <p:nvPr/>
          </p:nvSpPr>
          <p:spPr>
            <a:xfrm>
              <a:off x="9406579" y="2107775"/>
              <a:ext cx="923330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投广带来的</a:t>
              </a:r>
              <a:r>
                <a:rPr lang="zh-CN" alt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互动量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  <p:sp>
        <p:nvSpPr>
          <p:cNvPr id="61" name="TextBox 5"/>
          <p:cNvSpPr txBox="1"/>
          <p:nvPr/>
        </p:nvSpPr>
        <p:spPr>
          <a:xfrm>
            <a:off x="7992745" y="2200910"/>
            <a:ext cx="1305560" cy="6076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1,846</a:t>
            </a:r>
            <a:endParaRPr lang="en-US" sz="2800" b="1" dirty="0">
              <a:latin typeface="FarnhamDisplay Regular"/>
            </a:endParaRPr>
          </a:p>
        </p:txBody>
      </p:sp>
      <p:sp>
        <p:nvSpPr>
          <p:cNvPr id="62" name="TextBox 5"/>
          <p:cNvSpPr txBox="1"/>
          <p:nvPr/>
        </p:nvSpPr>
        <p:spPr>
          <a:xfrm>
            <a:off x="9390564" y="2246243"/>
            <a:ext cx="1831719" cy="57490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800" b="1" dirty="0">
                <a:latin typeface="FarnhamDisplay Regular"/>
              </a:rPr>
              <a:t>4</a:t>
            </a:r>
            <a:endParaRPr lang="en-US" sz="2800" b="1" dirty="0">
              <a:latin typeface="FarnhamDisplay Regular"/>
            </a:endParaRPr>
          </a:p>
        </p:txBody>
      </p:sp>
      <p:pic>
        <p:nvPicPr>
          <p:cNvPr id="63" name="图片 6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0700" y="510358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图片 6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700" y="562054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700" y="613750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riangle 21"/>
          <p:cNvSpPr/>
          <p:nvPr/>
        </p:nvSpPr>
        <p:spPr>
          <a:xfrm rot="10800000">
            <a:off x="1155433" y="353870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67" name="Triangle 21"/>
          <p:cNvSpPr/>
          <p:nvPr/>
        </p:nvSpPr>
        <p:spPr>
          <a:xfrm rot="10800000">
            <a:off x="3092183" y="3564101"/>
            <a:ext cx="147718" cy="127331"/>
          </a:xfrm>
          <a:prstGeom prst="triangle">
            <a:avLst/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grpSp>
        <p:nvGrpSpPr>
          <p:cNvPr id="70" name="Group 51"/>
          <p:cNvGrpSpPr/>
          <p:nvPr/>
        </p:nvGrpSpPr>
        <p:grpSpPr>
          <a:xfrm>
            <a:off x="-227055" y="1821059"/>
            <a:ext cx="2281131" cy="1123753"/>
            <a:chOff x="-365972" y="1884559"/>
            <a:chExt cx="2281131" cy="1123753"/>
          </a:xfrm>
        </p:grpSpPr>
        <p:sp>
          <p:nvSpPr>
            <p:cNvPr id="71" name="Freeform 20"/>
            <p:cNvSpPr/>
            <p:nvPr/>
          </p:nvSpPr>
          <p:spPr bwMode="auto">
            <a:xfrm>
              <a:off x="233334" y="1884559"/>
              <a:ext cx="1681825" cy="1123753"/>
            </a:xfrm>
            <a:prstGeom prst="roundRect">
              <a:avLst>
                <a:gd name="adj" fmla="val 8906"/>
              </a:avLst>
            </a:prstGeom>
            <a:solidFill>
              <a:schemeClr val="tx1">
                <a:alpha val="5000"/>
              </a:schemeClr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200"/>
            </a:p>
          </p:txBody>
        </p:sp>
        <p:sp>
          <p:nvSpPr>
            <p:cNvPr id="72" name="TextBox 5"/>
            <p:cNvSpPr txBox="1"/>
            <p:nvPr/>
          </p:nvSpPr>
          <p:spPr>
            <a:xfrm>
              <a:off x="-365972" y="2289569"/>
              <a:ext cx="1831719" cy="57490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2800" b="1" dirty="0">
                  <a:latin typeface="+mj-lt"/>
                </a:rPr>
                <a:t>9</a:t>
              </a:r>
              <a:endParaRPr lang="en-US" sz="2800" b="1" dirty="0">
                <a:latin typeface="+mj-lt"/>
              </a:endParaRPr>
            </a:p>
          </p:txBody>
        </p:sp>
        <p:sp>
          <p:nvSpPr>
            <p:cNvPr id="73" name="TextBox 33"/>
            <p:cNvSpPr txBox="1"/>
            <p:nvPr/>
          </p:nvSpPr>
          <p:spPr>
            <a:xfrm>
              <a:off x="383432" y="1979627"/>
              <a:ext cx="969817" cy="2687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9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arnhamDisplay Regular" panose="02000503080000020004" pitchFamily="2" charset="77"/>
                  <a:cs typeface="Farah" panose="00000400000000000000" pitchFamily="2" charset="-78"/>
                  <a:sym typeface="Graphik"/>
                </a:rPr>
                <a:t>Piloting Account</a:t>
              </a:r>
              <a:endParaRPr kumimoji="0" lang="en-US" sz="9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arnhamDisplay Regular" panose="02000503080000020004" pitchFamily="2" charset="77"/>
                <a:cs typeface="Farah" panose="00000400000000000000" pitchFamily="2" charset="-78"/>
                <a:sym typeface="Graphik"/>
              </a:endParaRPr>
            </a:p>
          </p:txBody>
        </p:sp>
        <p:sp>
          <p:nvSpPr>
            <p:cNvPr id="74" name="TextBox 34"/>
            <p:cNvSpPr txBox="1"/>
            <p:nvPr/>
          </p:nvSpPr>
          <p:spPr>
            <a:xfrm>
              <a:off x="377796" y="2107775"/>
              <a:ext cx="896079" cy="250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800" dirty="0">
                  <a:latin typeface="PingFang HK" panose="020B0400000000000000" pitchFamily="34" charset="-120"/>
                  <a:ea typeface="PingFang HK" panose="020B0400000000000000" pitchFamily="34" charset="-120"/>
                </a:rPr>
                <a:t>当前KOSA账号数</a:t>
              </a:r>
              <a:endParaRPr kumimoji="0" lang="en-US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ingFang HK" panose="020B0400000000000000" pitchFamily="34" charset="-120"/>
                <a:ea typeface="PingFang HK" panose="020B0400000000000000" pitchFamily="34" charset="-120"/>
                <a:sym typeface="Graphik"/>
              </a:endParaRPr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Wholesale Piloting Performance</a:t>
            </a:r>
            <a:endParaRPr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557618" y="1815520"/>
          <a:ext cx="11208890" cy="4901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1270"/>
                <a:gridCol w="1601270"/>
                <a:gridCol w="1601270"/>
                <a:gridCol w="1601270"/>
                <a:gridCol w="1601270"/>
                <a:gridCol w="1601270"/>
                <a:gridCol w="1601270"/>
              </a:tblGrid>
              <a:tr h="3654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Store Code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所属店铺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Notes Published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发布笔记数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Engagement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</a:rPr>
                        <a:t>笔记互动量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Inquires Received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</a:rPr>
                        <a:t>私信开口数</a:t>
                      </a:r>
                      <a:endParaRPr lang="en-US" sz="800" b="0" i="0" dirty="0">
                        <a:latin typeface="FarnhamDisplay Regular" panose="02000503080000020004" pitchFamily="2" charset="7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WeCom Recruitment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企微留资数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FarnhamDisplay Regular" panose="02000503080000020004" pitchFamily="2" charset="77"/>
                          <a:ea typeface="+mn-ea"/>
                          <a:cs typeface="+mn-cs"/>
                          <a:sym typeface="Graphik"/>
                        </a:rPr>
                        <a:t>Turnover</a:t>
                      </a:r>
                      <a:endParaRPr lang="en-US" sz="8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FarnhamDisplay Regular" panose="02000503080000020004" pitchFamily="2" charset="77"/>
                        <a:ea typeface="+mn-ea"/>
                        <a:cs typeface="+mn-cs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PingFang HK" panose="020B0400000000000000" pitchFamily="34" charset="-120"/>
                          <a:ea typeface="PingFang HK" panose="020B0400000000000000" pitchFamily="34" charset="-120"/>
                          <a:sym typeface="Graphik"/>
                        </a:rPr>
                        <a:t>期间成交量</a:t>
                      </a:r>
                      <a:endParaRPr kumimoji="0" lang="en-US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PingFang HK" panose="020B0400000000000000" pitchFamily="34" charset="-120"/>
                        <a:ea typeface="PingFang HK" panose="020B0400000000000000" pitchFamily="34" charset="-120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Allo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</a:t>
                      </a: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MixC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47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Rick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</a:t>
                      </a:r>
                      <a:r>
                        <a:rPr lang="en-US" sz="1100" b="0" i="0" u="none" strike="noStrike" dirty="0" err="1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MixC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29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32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Yoyo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HZ MixC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Ada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NB Hankyu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Luna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WX Hanglung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34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38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Vivi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CS IFS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40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Cathy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NB Hankyu</a:t>
                      </a:r>
                      <a:endParaRPr lang="en-US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26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J</a:t>
                      </a: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osie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u="none" strike="noStrike" cap="none" spc="0" baseline="0" dirty="0">
                          <a:solidFill>
                            <a:srgbClr val="191919"/>
                          </a:solidFill>
                          <a:effectLst/>
                          <a:uFillTx/>
                          <a:latin typeface="+mj-ea"/>
                          <a:ea typeface="+mn-ea"/>
                          <a:cs typeface="+mn-cs"/>
                          <a:sym typeface="FarnhamDisplay Regular"/>
                        </a:rPr>
                        <a:t>CS IFS</a:t>
                      </a:r>
                      <a:endParaRPr lang="en-US" altLang="zh-CN" sz="1100" b="0" i="0" u="none" strike="noStrike" cap="none" spc="0" baseline="0" dirty="0">
                        <a:solidFill>
                          <a:srgbClr val="191919"/>
                        </a:solidFill>
                        <a:effectLst/>
                        <a:uFillTx/>
                        <a:latin typeface="+mj-ea"/>
                        <a:ea typeface="+mn-ea"/>
                        <a:cs typeface="+mn-cs"/>
                        <a:sym typeface="FarnhamDisplay Regular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75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27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Sarah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CS IFS</a:t>
                      </a:r>
                      <a:endParaRPr lang="en-US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23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91919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19"/>
          <p:cNvSpPr txBox="1"/>
          <p:nvPr/>
        </p:nvSpPr>
        <p:spPr>
          <a:xfrm>
            <a:off x="5746305" y="1203491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E5E5E">
                  <a:lumMod val="60000"/>
                  <a:lumOff val="40000"/>
                </a:srgbClr>
              </a:solidFill>
              <a:effectLst/>
              <a:uLnTx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2025.09.29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11200" y="220798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1200" y="628015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1200" y="271462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1200" y="322126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1200" y="372790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1200" y="423454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1200" y="475887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1200" y="526550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9"/>
          <a:srcRect l="1539" r="1539"/>
          <a:stretch>
            <a:fillRect/>
          </a:stretch>
        </p:blipFill>
        <p:spPr>
          <a:xfrm>
            <a:off x="712191" y="5764250"/>
            <a:ext cx="360000" cy="360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New Presentation Guidelines"/>
          <p:cNvSpPr txBox="1">
            <a:spLocks noGrp="1"/>
          </p:cNvSpPr>
          <p:nvPr>
            <p:ph type="title"/>
          </p:nvPr>
        </p:nvSpPr>
        <p:spPr>
          <a:xfrm>
            <a:off x="344172" y="1079500"/>
            <a:ext cx="11466786" cy="632704"/>
          </a:xfrm>
          <a:prstGeom prst="rect">
            <a:avLst/>
          </a:prstGeom>
        </p:spPr>
        <p:txBody>
          <a:bodyPr>
            <a:normAutofit/>
          </a:bodyPr>
          <a:lstStyle/>
          <a:p>
            <a:pPr hangingPunct="1"/>
            <a:r>
              <a:rPr lang="en-US" altLang="zh-CN" dirty="0"/>
              <a:t>Wholesale Performance (by Note)</a:t>
            </a:r>
            <a:endParaRPr 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6007585" y="1189550"/>
            <a:ext cx="1404231" cy="384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825500" rtl="0" eaLnBrk="1" fontAlgn="auto" latinLnBrk="0" hangingPunct="0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P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5E5E5E">
                    <a:lumMod val="60000"/>
                    <a:lumOff val="40000"/>
                  </a:srgbClr>
                </a:solidFill>
                <a:effectLst/>
                <a:uLnTx/>
                <a:uFillTx/>
                <a:latin typeface="FarnhamDisplay Regular" panose="02000503080000020004" pitchFamily="2" charset="77"/>
                <a:sym typeface="Graphik"/>
              </a:rPr>
              <a:t>eriod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5E5E5E">
                  <a:lumMod val="60000"/>
                  <a:lumOff val="40000"/>
                </a:srgbClr>
              </a:solidFill>
              <a:effectLst/>
              <a:uLnTx/>
              <a:uFillTx/>
              <a:latin typeface="FarnhamDisplay Regular" panose="02000503080000020004" pitchFamily="2" charset="77"/>
              <a:sym typeface="Graphik"/>
            </a:endParaRPr>
          </a:p>
          <a:p>
            <a:pPr defTabSz="825500">
              <a:lnSpc>
                <a:spcPts val="1060"/>
              </a:lnSpc>
            </a:pP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2025.10.20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–</a:t>
            </a:r>
            <a:r>
              <a:rPr lang="zh-CN" altLang="en-US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 </a:t>
            </a:r>
            <a:r>
              <a:rPr lang="en-US" altLang="zh-CN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FarnhamDisplay Regular" panose="02000503080000020004" pitchFamily="2" charset="77"/>
              </a:rPr>
              <a:t>2025.10.26</a:t>
            </a:r>
            <a:endParaRPr lang="en-US" altLang="zh-CN" sz="1000" dirty="0">
              <a:solidFill>
                <a:schemeClr val="tx2">
                  <a:lumMod val="60000"/>
                  <a:lumOff val="40000"/>
                </a:schemeClr>
              </a:solidFill>
              <a:latin typeface="FarnhamDisplay Regular" panose="02000503080000020004" pitchFamily="2" charset="77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2709504" y="1716000"/>
          <a:ext cx="6754999" cy="51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213"/>
                <a:gridCol w="506423"/>
                <a:gridCol w="685160"/>
                <a:gridCol w="685160"/>
                <a:gridCol w="536213"/>
                <a:gridCol w="642915"/>
                <a:gridCol w="576000"/>
                <a:gridCol w="642915"/>
                <a:gridCol w="1944000"/>
              </a:tblGrid>
              <a:tr h="4457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FarnhamDisplay Regular" panose="02000503080000020004" pitchFamily="2" charset="77"/>
                          <a:ea typeface="+mn-ea"/>
                        </a:rPr>
                        <a:t>Note Link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笔记</a:t>
                      </a:r>
                      <a:endParaRPr lang="en-US" altLang="zh-CN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dirty="0">
                          <a:latin typeface="FarnhamDisplay Regular" panose="02000503080000020004" pitchFamily="2" charset="77"/>
                          <a:ea typeface="+mn-ea"/>
                        </a:rPr>
                        <a:t>链接</a:t>
                      </a:r>
                      <a:endParaRPr lang="en-US" sz="80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Store Code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所属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账号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Cost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投放消耗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Engagement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笔记互动量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CPE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  <a:p>
                      <a:pPr marL="0" marR="0" lvl="0" indent="0" algn="ctr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8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FarnhamDisplay Regular" panose="02000503080000020004" pitchFamily="2" charset="77"/>
                          <a:ea typeface="+mn-ea"/>
                          <a:sym typeface="Graphik"/>
                        </a:rPr>
                        <a:t>互动成本</a:t>
                      </a:r>
                      <a:endParaRPr kumimoji="0" lang="en-US" altLang="zh-CN" sz="8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FarnhamDisplay Regular" panose="02000503080000020004" pitchFamily="2" charset="77"/>
                        <a:ea typeface="+mn-ea"/>
                        <a:sym typeface="Graphik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Inquires Received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  <a:p>
                      <a:pPr algn="ctr"/>
                      <a:r>
                        <a:rPr 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私信开口数</a:t>
                      </a:r>
                      <a:endParaRPr lang="en-US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i="0" dirty="0">
                          <a:latin typeface="FarnhamDisplay Regular" panose="02000503080000020004" pitchFamily="2" charset="77"/>
                          <a:ea typeface="+mn-ea"/>
                        </a:rPr>
                        <a:t>私信开口</a:t>
                      </a: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成本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275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dirty="0">
                          <a:latin typeface="FarnhamDisplay Regular" panose="02000503080000020004" pitchFamily="2" charset="77"/>
                          <a:ea typeface="+mn-ea"/>
                        </a:rPr>
                        <a:t>笔记内容总结</a:t>
                      </a:r>
                      <a:endParaRPr lang="en-US" altLang="zh-CN" sz="800" b="0" i="0" dirty="0">
                        <a:latin typeface="FarnhamDisplay Regular" panose="02000503080000020004" pitchFamily="2" charset="77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1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Cathy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 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 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49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多色展示，强调造型与搭配感。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2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Cathy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酷飒暗黑穿搭，突出品牌调性。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sng" strike="noStrike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  <a:hlinkClick r:id="rId3"/>
                        </a:rPr>
                        <a:t>Link</a:t>
                      </a: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Cathy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 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品牌单品穿搭示范，营造松弛感。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"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sng" strike="noStrike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800" b="0" i="0" u="none" strike="noStrike" dirty="0">
                        <a:solidFill>
                          <a:srgbClr val="19191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443" marR="5443" marT="544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3" name="ID_5136B64131F8416985778411F730796C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875280" y="2362200"/>
            <a:ext cx="218440" cy="292100"/>
          </a:xfrm>
          <a:prstGeom prst="rect">
            <a:avLst/>
          </a:prstGeom>
        </p:spPr>
      </p:pic>
      <p:pic>
        <p:nvPicPr>
          <p:cNvPr id="4" name="ID_36363F29054A4489941AFEEA9FC4FABD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2880360" y="2752090"/>
            <a:ext cx="208915" cy="292735"/>
          </a:xfrm>
          <a:prstGeom prst="rect">
            <a:avLst/>
          </a:prstGeom>
        </p:spPr>
      </p:pic>
      <p:pic>
        <p:nvPicPr>
          <p:cNvPr id="29" name="ID_61BF08FF4CCA46929457E2AEAEA8AAC8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2875280" y="3142615"/>
            <a:ext cx="218440" cy="2927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FarnhamDisplay Regular"/>
        <a:ea typeface="FarnhamDisplay Regular"/>
        <a:cs typeface="FarnhamDisplay Regular"/>
      </a:majorFont>
      <a:minorFont>
        <a:latin typeface="Graphik"/>
        <a:ea typeface="Graphik"/>
        <a:cs typeface="Graphik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FarnhamDisplay Regular"/>
        <a:ea typeface="FarnhamDisplay Regular"/>
        <a:cs typeface="FarnhamDisplay Regular"/>
      </a:majorFont>
      <a:minorFont>
        <a:latin typeface="Graphik"/>
        <a:ea typeface="Graphik"/>
        <a:cs typeface="Graphik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4169</Words>
  <Application>WPS 表格</Application>
  <PresentationFormat>宽屏</PresentationFormat>
  <Paragraphs>1350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5" baseType="lpstr">
      <vt:lpstr>Arial</vt:lpstr>
      <vt:lpstr>宋体</vt:lpstr>
      <vt:lpstr>Wingdings</vt:lpstr>
      <vt:lpstr>Graphik</vt:lpstr>
      <vt:lpstr>Thonburi</vt:lpstr>
      <vt:lpstr>Helvetica Neue Medium</vt:lpstr>
      <vt:lpstr>FarnhamDisplay Regular</vt:lpstr>
      <vt:lpstr>Helvetica Neue</vt:lpstr>
      <vt:lpstr>Farah</vt:lpstr>
      <vt:lpstr>PingFang HK</vt:lpstr>
      <vt:lpstr>FarnhamDisplay Regular</vt:lpstr>
      <vt:lpstr>FarnhamDisplay LightItal</vt:lpstr>
      <vt:lpstr>宋体</vt:lpstr>
      <vt:lpstr>汉仪书宋二KW</vt:lpstr>
      <vt:lpstr>Helvetica Neue</vt:lpstr>
      <vt:lpstr>微软雅黑</vt:lpstr>
      <vt:lpstr>汉仪旗黑</vt:lpstr>
      <vt:lpstr>Arial Unicode MS</vt:lpstr>
      <vt:lpstr>Graphik</vt:lpstr>
      <vt:lpstr>苹方-简</vt:lpstr>
      <vt:lpstr>FarnhamDisplay Regular</vt:lpstr>
      <vt:lpstr>等线</vt:lpstr>
      <vt:lpstr>汉仪中等线KW</vt:lpstr>
      <vt:lpstr>等线 Light</vt:lpstr>
      <vt:lpstr>Calibri</vt:lpstr>
      <vt:lpstr>White</vt:lpstr>
      <vt:lpstr>自定义设计方案</vt:lpstr>
      <vt:lpstr>Retail Dashboard</vt:lpstr>
      <vt:lpstr>Retail Piloting Performance</vt:lpstr>
      <vt:lpstr>Retail Piloting Performance</vt:lpstr>
      <vt:lpstr>Retail Performance (by Note)</vt:lpstr>
      <vt:lpstr>Retail Performance (by Note)</vt:lpstr>
      <vt:lpstr>Wholesale Dashboard</vt:lpstr>
      <vt:lpstr>Wholesale Piloting Performance</vt:lpstr>
      <vt:lpstr>Wholesale Performance (by Note)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Meline Wong</dc:creator>
  <cp:lastModifiedBy>义</cp:lastModifiedBy>
  <cp:revision>1127</cp:revision>
  <dcterms:created xsi:type="dcterms:W3CDTF">2025-11-26T03:25:07Z</dcterms:created>
  <dcterms:modified xsi:type="dcterms:W3CDTF">2025-11-26T03:25:07Z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0A0F7D84E96246058E6B2669F942E0FA_42</vt:lpwstr>
  </property>
  <property fmtid="{D5CDD505-2E9C-101B-9397-08002B2CF9AE}" pid="3" name="KSOProductBuildVer">
    <vt:lpwstr>2052-6.11.0.8885</vt:lpwstr>
  </property>
</Properties>
</file>